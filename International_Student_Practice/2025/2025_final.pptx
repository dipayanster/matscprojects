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4" r:id="rId2"/>
    <p:sldId id="275" r:id="rId3"/>
    <p:sldId id="276" r:id="rId4"/>
    <p:sldId id="277" r:id="rId5"/>
    <p:sldId id="262" r:id="rId6"/>
    <p:sldId id="273" r:id="rId7"/>
    <p:sldId id="278" r:id="rId8"/>
    <p:sldId id="279" r:id="rId9"/>
    <p:sldId id="283" r:id="rId10"/>
    <p:sldId id="280" r:id="rId11"/>
    <p:sldId id="281" r:id="rId12"/>
    <p:sldId id="282" r:id="rId13"/>
    <p:sldId id="284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2" d="100"/>
          <a:sy n="82" d="100"/>
        </p:scale>
        <p:origin x="691" y="11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AE228-66DF-49B4-93F6-15316C316A31}" type="datetimeFigureOut">
              <a:rPr lang="en-GB" smtClean="0"/>
              <a:t>09/10/2025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97EAB6-41E0-4A70-BCE4-1B7DAF53CF8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1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497DE-601D-CFFE-BF94-338873442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87190-9B1C-7091-7060-24D3F8AFF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3F57F-EAE9-F6FD-D2BD-A938D40A0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959B2-A304-5DCE-A8AD-59FDB7627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9269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11E6-1BB9-26EA-4B8D-51FB53A4D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A31EF-A54D-DE4A-FFDF-22752DAEBC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8F409-98EE-89EA-4E56-55705F93E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9E1C0-E3B6-AA93-1906-47942F1E8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6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C33D1-8978-EAF8-4B60-51EB5394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953BD-BAB1-AEBE-9F2D-A4912072B6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082534-D2F6-AEE1-7C8D-FE5972CB8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20CE3-5F4F-0EA2-A9CA-17858A9BC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435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B6910-D443-C224-BD5D-B8728B8D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E1E0A-3B67-2922-EF63-BA5A7CB73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62655B-C5C5-0316-F2C1-418E5E81F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EAFC-4539-56C4-2DD8-F69A81C8DF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93854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8107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EDB96-CB49-BD57-9580-E7387A3BB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C7AB4-CA52-5AB0-14A7-67E26D817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26D8E0-8561-C52B-2B4D-B0B0647C4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9C1EC-0814-7665-79D1-B4D67AEE35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9066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440F-0665-4E3C-D218-9091D457E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B726C-8F5E-EEAF-A6C8-7E1A5853E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83FB8E-52E4-5E4A-7166-AA8582A5B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827C6-A32E-B9F9-1A70-645E2DA357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55900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C1BD-9A43-1412-9632-948A82273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E8CE8-78A5-F0AE-CEA4-BEBAFE275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39C58-B093-ECB4-A488-ECA9E44CF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DF1D0C-DA01-D510-CF04-D2A0256174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3425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208DF-3592-2C46-63E2-82D58A52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EF6B93-8C45-86CC-962C-A886A2D05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0A65DF-06C6-F129-5FD2-37F357E943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555C6-03D4-48A5-F055-E41A16D18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3126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7E076-B95F-6160-412F-3CB94EF47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0B50A2-3119-EF1A-FA62-614F1CA89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6953D-A865-6E09-A78D-5A9EFB6549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D7B1B-1871-BEB0-F505-49E7386C0C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8611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D1702-A436-5FF4-323E-BD93371DD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570F4-167A-38C0-166A-F1BBAB6265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AFF043-86ED-AB5D-DE14-B8EB0325C3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FE416-F7EC-9698-19A9-5F4C423B7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2479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C9A85-039E-0CF9-AC64-C1A2CC2C4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F88C3-48AC-C053-C791-0EC5400C9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6568C5-741B-6F78-5C26-2A882B7B9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FC417-9A84-5072-FB3C-1D703910D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97EAB6-41E0-4A70-BCE4-1B7DAF53CF87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9705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3F1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3736" y="6534912"/>
            <a:ext cx="358140" cy="0"/>
          </a:xfrm>
          <a:custGeom>
            <a:avLst/>
            <a:gdLst/>
            <a:ahLst/>
            <a:cxnLst/>
            <a:rect l="l" t="t" r="r" b="b"/>
            <a:pathLst>
              <a:path w="358140">
                <a:moveTo>
                  <a:pt x="0" y="0"/>
                </a:moveTo>
                <a:lnTo>
                  <a:pt x="358089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53567" y="6356603"/>
            <a:ext cx="0" cy="358140"/>
          </a:xfrm>
          <a:custGeom>
            <a:avLst/>
            <a:gdLst/>
            <a:ahLst/>
            <a:cxnLst/>
            <a:rect l="l" t="t" r="r" b="b"/>
            <a:pathLst>
              <a:path h="358140">
                <a:moveTo>
                  <a:pt x="0" y="358076"/>
                </a:moveTo>
                <a:lnTo>
                  <a:pt x="0" y="0"/>
                </a:lnTo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98703" y="6480047"/>
            <a:ext cx="109728" cy="1097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8999"/>
            <a:ext cx="10321290" cy="923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0922" y="2431491"/>
            <a:ext cx="7968615" cy="222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81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onsolas"/>
                <a:cs typeface="Consolas"/>
              </a:defRPr>
            </a:lvl1pPr>
          </a:lstStyle>
          <a:p>
            <a:pPr marL="268605">
              <a:lnSpc>
                <a:spcPts val="273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jp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9F936FA-2FD9-1A7E-59D8-3DA40D73C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B6F323F2-7385-1ABA-9C63-F8F06BD613AB}"/>
              </a:ext>
            </a:extLst>
          </p:cNvPr>
          <p:cNvSpPr txBox="1"/>
          <p:nvPr/>
        </p:nvSpPr>
        <p:spPr>
          <a:xfrm>
            <a:off x="817079" y="1932262"/>
            <a:ext cx="10779760" cy="730969"/>
          </a:xfrm>
          <a:prstGeom prst="rect">
            <a:avLst/>
          </a:prstGeom>
          <a:solidFill>
            <a:srgbClr val="397571"/>
          </a:solidFill>
        </p:spPr>
        <p:txBody>
          <a:bodyPr vert="horz" wrap="square" lIns="0" tIns="236220" rIns="0" bIns="0" rtlCol="0">
            <a:spAutoFit/>
          </a:bodyPr>
          <a:lstStyle/>
          <a:p>
            <a:pPr marL="601980" algn="l">
              <a:lnSpc>
                <a:spcPct val="100000"/>
              </a:lnSpc>
              <a:spcBef>
                <a:spcPts val="1860"/>
              </a:spcBef>
            </a:pPr>
            <a:r>
              <a:rPr lang="en-US" sz="3200" dirty="0">
                <a:solidFill>
                  <a:schemeClr val="bg1"/>
                </a:solidFill>
                <a:latin typeface="Times New Roman"/>
                <a:cs typeface="Times New Roman"/>
              </a:rPr>
              <a:t>Simple atomistic modeling of adsorptions on various surfaces</a:t>
            </a:r>
            <a:endParaRPr sz="32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F034E4DA-97F0-0D2D-B007-620CD5BB2CC2}"/>
              </a:ext>
            </a:extLst>
          </p:cNvPr>
          <p:cNvSpPr txBox="1"/>
          <p:nvPr/>
        </p:nvSpPr>
        <p:spPr>
          <a:xfrm>
            <a:off x="706120" y="2941992"/>
            <a:ext cx="10779760" cy="26135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10820" algn="ctr">
              <a:lnSpc>
                <a:spcPct val="100000"/>
              </a:lnSpc>
              <a:spcBef>
                <a:spcPts val="114"/>
              </a:spcBef>
            </a:pP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6210" marR="2910205" algn="ctr">
              <a:lnSpc>
                <a:spcPct val="100000"/>
              </a:lnSpc>
            </a:pP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96210" marR="2910205" algn="ctr">
              <a:lnSpc>
                <a:spcPct val="100000"/>
              </a:lnSpc>
            </a:pPr>
            <a:r>
              <a:rPr lang="en-U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Edwine Matlou, Son Nguyen and Andrej Dedi</a:t>
            </a:r>
            <a:r>
              <a:rPr lang="sr-Latn-RS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13360" algn="ctr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  <a:r>
              <a:rPr sz="1800" b="1" spc="-3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2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By: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10820" algn="ctr">
              <a:lnSpc>
                <a:spcPts val="2150"/>
              </a:lnSpc>
            </a:pPr>
            <a:r>
              <a:rPr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sz="18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Miroslav Ilia</a:t>
            </a:r>
            <a:r>
              <a:rPr lang="sr-Latn-R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š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211454" algn="ctr">
              <a:lnSpc>
                <a:spcPts val="215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Dipayan Sen</a:t>
            </a:r>
          </a:p>
          <a:p>
            <a:pPr marR="211454" algn="ctr">
              <a:lnSpc>
                <a:spcPts val="2150"/>
              </a:lnSpc>
            </a:pPr>
            <a:r>
              <a:rPr lang="en-US" sz="1600" b="1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Bogoliubov Laboratory of Theoretical Physics</a:t>
            </a:r>
            <a:r>
              <a:rPr sz="1600"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sz="1600" b="1" spc="-3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2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JINR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6">
            <a:extLst>
              <a:ext uri="{FF2B5EF4-FFF2-40B4-BE49-F238E27FC236}">
                <a16:creationId xmlns:a16="http://schemas.microsoft.com/office/drawing/2014/main" id="{9E9AF19E-5742-55A6-49FF-012F0E8EA241}"/>
              </a:ext>
            </a:extLst>
          </p:cNvPr>
          <p:cNvSpPr txBox="1"/>
          <p:nvPr/>
        </p:nvSpPr>
        <p:spPr>
          <a:xfrm>
            <a:off x="2107692" y="559238"/>
            <a:ext cx="2549906" cy="579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b="1" spc="-10" dirty="0">
                <a:solidFill>
                  <a:srgbClr val="367996"/>
                </a:solidFill>
                <a:latin typeface="Arial"/>
                <a:cs typeface="Arial"/>
              </a:rPr>
              <a:t>Bogoliubov Laboratory</a:t>
            </a:r>
          </a:p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lang="en-US" b="1" spc="-10" dirty="0">
                <a:solidFill>
                  <a:srgbClr val="367996"/>
                </a:solidFill>
                <a:latin typeface="Arial"/>
                <a:cs typeface="Arial"/>
              </a:rPr>
              <a:t>of Theoretical Physics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12" name="object 7">
            <a:extLst>
              <a:ext uri="{FF2B5EF4-FFF2-40B4-BE49-F238E27FC236}">
                <a16:creationId xmlns:a16="http://schemas.microsoft.com/office/drawing/2014/main" id="{70645A7D-D769-DB75-9BAB-10E49A70647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64852" y="70103"/>
            <a:ext cx="2008631" cy="114604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5B38210-C4F6-8B0D-2413-15EC848C9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53" y="358135"/>
            <a:ext cx="1771897" cy="981212"/>
          </a:xfrm>
          <a:prstGeom prst="rect">
            <a:avLst/>
          </a:prstGeom>
        </p:spPr>
      </p:pic>
      <p:pic>
        <p:nvPicPr>
          <p:cNvPr id="14" name="object 3">
            <a:extLst>
              <a:ext uri="{FF2B5EF4-FFF2-40B4-BE49-F238E27FC236}">
                <a16:creationId xmlns:a16="http://schemas.microsoft.com/office/drawing/2014/main" id="{B1FCE7C0-AD34-E79E-A0DF-332BDF094DC1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0" y="6400799"/>
            <a:ext cx="121920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2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DF46FC-8140-9BA2-28E6-71E81B8B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object 6">
            <a:extLst>
              <a:ext uri="{FF2B5EF4-FFF2-40B4-BE49-F238E27FC236}">
                <a16:creationId xmlns:a16="http://schemas.microsoft.com/office/drawing/2014/main" id="{1BA40FBD-D35B-6560-19CB-AC654DF29799}"/>
              </a:ext>
            </a:extLst>
          </p:cNvPr>
          <p:cNvGrpSpPr/>
          <p:nvPr/>
        </p:nvGrpSpPr>
        <p:grpSpPr>
          <a:xfrm>
            <a:off x="4750308" y="708659"/>
            <a:ext cx="6901180" cy="970915"/>
            <a:chOff x="4750308" y="708659"/>
            <a:chExt cx="6901180" cy="970915"/>
          </a:xfrm>
        </p:grpSpPr>
        <p:sp>
          <p:nvSpPr>
            <p:cNvPr id="24" name="object 7">
              <a:extLst>
                <a:ext uri="{FF2B5EF4-FFF2-40B4-BE49-F238E27FC236}">
                  <a16:creationId xmlns:a16="http://schemas.microsoft.com/office/drawing/2014/main" id="{DA72B92B-8141-1E53-0649-CE3A29D584EA}"/>
                </a:ext>
              </a:extLst>
            </p:cNvPr>
            <p:cNvSpPr/>
            <p:nvPr/>
          </p:nvSpPr>
          <p:spPr>
            <a:xfrm>
              <a:off x="4756404" y="1068323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8">
              <a:extLst>
                <a:ext uri="{FF2B5EF4-FFF2-40B4-BE49-F238E27FC236}">
                  <a16:creationId xmlns:a16="http://schemas.microsoft.com/office/drawing/2014/main" id="{790C396D-5913-84FD-31AB-9AB188B6EB7C}"/>
                </a:ext>
              </a:extLst>
            </p:cNvPr>
            <p:cNvSpPr/>
            <p:nvPr/>
          </p:nvSpPr>
          <p:spPr>
            <a:xfrm>
              <a:off x="4756404" y="1068323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617A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9">
              <a:extLst>
                <a:ext uri="{FF2B5EF4-FFF2-40B4-BE49-F238E27FC236}">
                  <a16:creationId xmlns:a16="http://schemas.microsoft.com/office/drawing/2014/main" id="{C3A42953-FEA2-1C29-4EB0-8A905F8EDE06}"/>
                </a:ext>
              </a:extLst>
            </p:cNvPr>
            <p:cNvSpPr/>
            <p:nvPr/>
          </p:nvSpPr>
          <p:spPr>
            <a:xfrm>
              <a:off x="4870704" y="714755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tx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0">
              <a:extLst>
                <a:ext uri="{FF2B5EF4-FFF2-40B4-BE49-F238E27FC236}">
                  <a16:creationId xmlns:a16="http://schemas.microsoft.com/office/drawing/2014/main" id="{0E8BE5D4-3EB2-AFA4-6821-C75394617661}"/>
                </a:ext>
              </a:extLst>
            </p:cNvPr>
            <p:cNvSpPr/>
            <p:nvPr/>
          </p:nvSpPr>
          <p:spPr>
            <a:xfrm>
              <a:off x="4870704" y="714755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11">
            <a:extLst>
              <a:ext uri="{FF2B5EF4-FFF2-40B4-BE49-F238E27FC236}">
                <a16:creationId xmlns:a16="http://schemas.microsoft.com/office/drawing/2014/main" id="{33D667E7-7EAF-D452-DBA3-B9361BDAFB78}"/>
              </a:ext>
            </a:extLst>
          </p:cNvPr>
          <p:cNvSpPr txBox="1"/>
          <p:nvPr/>
        </p:nvSpPr>
        <p:spPr>
          <a:xfrm>
            <a:off x="5090286" y="839851"/>
            <a:ext cx="23787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Consolas"/>
                <a:cs typeface="Consolas"/>
              </a:rPr>
              <a:t>1.Introduction</a:t>
            </a:r>
            <a:endParaRPr sz="2400" dirty="0">
              <a:latin typeface="Consolas"/>
              <a:cs typeface="Consolas"/>
            </a:endParaRPr>
          </a:p>
        </p:txBody>
      </p:sp>
      <p:grpSp>
        <p:nvGrpSpPr>
          <p:cNvPr id="29" name="object 18">
            <a:extLst>
              <a:ext uri="{FF2B5EF4-FFF2-40B4-BE49-F238E27FC236}">
                <a16:creationId xmlns:a16="http://schemas.microsoft.com/office/drawing/2014/main" id="{155553DB-C13B-1BD2-826B-54109DB6BD29}"/>
              </a:ext>
            </a:extLst>
          </p:cNvPr>
          <p:cNvGrpSpPr/>
          <p:nvPr/>
        </p:nvGrpSpPr>
        <p:grpSpPr>
          <a:xfrm>
            <a:off x="4756404" y="1855089"/>
            <a:ext cx="6901180" cy="972819"/>
            <a:chOff x="4750308" y="2884932"/>
            <a:chExt cx="6901180" cy="972819"/>
          </a:xfrm>
        </p:grpSpPr>
        <p:sp>
          <p:nvSpPr>
            <p:cNvPr id="30" name="object 19">
              <a:extLst>
                <a:ext uri="{FF2B5EF4-FFF2-40B4-BE49-F238E27FC236}">
                  <a16:creationId xmlns:a16="http://schemas.microsoft.com/office/drawing/2014/main" id="{ECCAB5CF-6991-B92E-F5CC-3DF5EF2DD524}"/>
                </a:ext>
              </a:extLst>
            </p:cNvPr>
            <p:cNvSpPr/>
            <p:nvPr/>
          </p:nvSpPr>
          <p:spPr>
            <a:xfrm>
              <a:off x="4756404" y="3246120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4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20">
              <a:extLst>
                <a:ext uri="{FF2B5EF4-FFF2-40B4-BE49-F238E27FC236}">
                  <a16:creationId xmlns:a16="http://schemas.microsoft.com/office/drawing/2014/main" id="{62908BC1-6875-CAF7-E5B7-8CC7506290EE}"/>
                </a:ext>
              </a:extLst>
            </p:cNvPr>
            <p:cNvSpPr/>
            <p:nvPr/>
          </p:nvSpPr>
          <p:spPr>
            <a:xfrm>
              <a:off x="4756404" y="3246120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4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707D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21">
              <a:extLst>
                <a:ext uri="{FF2B5EF4-FFF2-40B4-BE49-F238E27FC236}">
                  <a16:creationId xmlns:a16="http://schemas.microsoft.com/office/drawing/2014/main" id="{021F5D88-7940-405E-1D12-135DEB115460}"/>
                </a:ext>
              </a:extLst>
            </p:cNvPr>
            <p:cNvSpPr/>
            <p:nvPr/>
          </p:nvSpPr>
          <p:spPr>
            <a:xfrm>
              <a:off x="4870704" y="2891028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22">
              <a:extLst>
                <a:ext uri="{FF2B5EF4-FFF2-40B4-BE49-F238E27FC236}">
                  <a16:creationId xmlns:a16="http://schemas.microsoft.com/office/drawing/2014/main" id="{53CA76C7-3397-95E2-7F21-533AC2250425}"/>
                </a:ext>
              </a:extLst>
            </p:cNvPr>
            <p:cNvSpPr/>
            <p:nvPr/>
          </p:nvSpPr>
          <p:spPr>
            <a:xfrm>
              <a:off x="4870704" y="2891028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23">
            <a:extLst>
              <a:ext uri="{FF2B5EF4-FFF2-40B4-BE49-F238E27FC236}">
                <a16:creationId xmlns:a16="http://schemas.microsoft.com/office/drawing/2014/main" id="{F6CB4C51-B2DC-9CAB-E84B-2F822B4EBDD2}"/>
              </a:ext>
            </a:extLst>
          </p:cNvPr>
          <p:cNvGrpSpPr/>
          <p:nvPr/>
        </p:nvGrpSpPr>
        <p:grpSpPr>
          <a:xfrm>
            <a:off x="4756404" y="2944748"/>
            <a:ext cx="6901180" cy="970915"/>
            <a:chOff x="4750308" y="3974591"/>
            <a:chExt cx="6901180" cy="970915"/>
          </a:xfrm>
        </p:grpSpPr>
        <p:sp>
          <p:nvSpPr>
            <p:cNvPr id="35" name="object 24">
              <a:extLst>
                <a:ext uri="{FF2B5EF4-FFF2-40B4-BE49-F238E27FC236}">
                  <a16:creationId xmlns:a16="http://schemas.microsoft.com/office/drawing/2014/main" id="{EEA78FE7-0008-EE83-DF5E-FECB8ED344E5}"/>
                </a:ext>
              </a:extLst>
            </p:cNvPr>
            <p:cNvSpPr/>
            <p:nvPr/>
          </p:nvSpPr>
          <p:spPr>
            <a:xfrm>
              <a:off x="4756404" y="4334255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4">
                  <a:moveTo>
                    <a:pt x="6888480" y="0"/>
                  </a:moveTo>
                  <a:lnTo>
                    <a:pt x="0" y="0"/>
                  </a:lnTo>
                  <a:lnTo>
                    <a:pt x="0" y="605028"/>
                  </a:lnTo>
                  <a:lnTo>
                    <a:pt x="6888480" y="605028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25">
              <a:extLst>
                <a:ext uri="{FF2B5EF4-FFF2-40B4-BE49-F238E27FC236}">
                  <a16:creationId xmlns:a16="http://schemas.microsoft.com/office/drawing/2014/main" id="{F4E99F3D-689B-F642-4164-CB707496CAE1}"/>
                </a:ext>
              </a:extLst>
            </p:cNvPr>
            <p:cNvSpPr/>
            <p:nvPr/>
          </p:nvSpPr>
          <p:spPr>
            <a:xfrm>
              <a:off x="4756404" y="4334255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4">
                  <a:moveTo>
                    <a:pt x="0" y="605028"/>
                  </a:moveTo>
                  <a:lnTo>
                    <a:pt x="6888480" y="605028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8"/>
                  </a:lnTo>
                  <a:close/>
                </a:path>
              </a:pathLst>
            </a:custGeom>
            <a:ln w="12192">
              <a:solidFill>
                <a:srgbClr val="7980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26">
              <a:extLst>
                <a:ext uri="{FF2B5EF4-FFF2-40B4-BE49-F238E27FC236}">
                  <a16:creationId xmlns:a16="http://schemas.microsoft.com/office/drawing/2014/main" id="{73303D51-A966-0CFB-356C-00FF4ACB8923}"/>
                </a:ext>
              </a:extLst>
            </p:cNvPr>
            <p:cNvSpPr/>
            <p:nvPr/>
          </p:nvSpPr>
          <p:spPr>
            <a:xfrm>
              <a:off x="4870704" y="3980687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27">
              <a:extLst>
                <a:ext uri="{FF2B5EF4-FFF2-40B4-BE49-F238E27FC236}">
                  <a16:creationId xmlns:a16="http://schemas.microsoft.com/office/drawing/2014/main" id="{6EB5AF63-321A-61D5-66CD-17743BFA11D3}"/>
                </a:ext>
              </a:extLst>
            </p:cNvPr>
            <p:cNvSpPr/>
            <p:nvPr/>
          </p:nvSpPr>
          <p:spPr>
            <a:xfrm>
              <a:off x="4870704" y="3980687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28">
            <a:extLst>
              <a:ext uri="{FF2B5EF4-FFF2-40B4-BE49-F238E27FC236}">
                <a16:creationId xmlns:a16="http://schemas.microsoft.com/office/drawing/2014/main" id="{B5F94064-85D2-07A7-6209-5D4CF588EC58}"/>
              </a:ext>
            </a:extLst>
          </p:cNvPr>
          <p:cNvGrpSpPr/>
          <p:nvPr/>
        </p:nvGrpSpPr>
        <p:grpSpPr>
          <a:xfrm>
            <a:off x="4756404" y="4032885"/>
            <a:ext cx="6901180" cy="970915"/>
            <a:chOff x="4750308" y="5062728"/>
            <a:chExt cx="6901180" cy="970915"/>
          </a:xfrm>
        </p:grpSpPr>
        <p:sp>
          <p:nvSpPr>
            <p:cNvPr id="40" name="object 29">
              <a:extLst>
                <a:ext uri="{FF2B5EF4-FFF2-40B4-BE49-F238E27FC236}">
                  <a16:creationId xmlns:a16="http://schemas.microsoft.com/office/drawing/2014/main" id="{CD5C2575-5CF2-9E1F-CB29-A9AFD496F603}"/>
                </a:ext>
              </a:extLst>
            </p:cNvPr>
            <p:cNvSpPr/>
            <p:nvPr/>
          </p:nvSpPr>
          <p:spPr>
            <a:xfrm>
              <a:off x="4756404" y="5423916"/>
              <a:ext cx="6888480" cy="603885"/>
            </a:xfrm>
            <a:custGeom>
              <a:avLst/>
              <a:gdLst/>
              <a:ahLst/>
              <a:cxnLst/>
              <a:rect l="l" t="t" r="r" b="b"/>
              <a:pathLst>
                <a:path w="6888480" h="603885">
                  <a:moveTo>
                    <a:pt x="6888480" y="0"/>
                  </a:moveTo>
                  <a:lnTo>
                    <a:pt x="0" y="0"/>
                  </a:lnTo>
                  <a:lnTo>
                    <a:pt x="0" y="603504"/>
                  </a:lnTo>
                  <a:lnTo>
                    <a:pt x="6888480" y="603504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30">
              <a:extLst>
                <a:ext uri="{FF2B5EF4-FFF2-40B4-BE49-F238E27FC236}">
                  <a16:creationId xmlns:a16="http://schemas.microsoft.com/office/drawing/2014/main" id="{AA093D89-7DF2-7E0B-B28D-6AABDEF79EA4}"/>
                </a:ext>
              </a:extLst>
            </p:cNvPr>
            <p:cNvSpPr/>
            <p:nvPr/>
          </p:nvSpPr>
          <p:spPr>
            <a:xfrm>
              <a:off x="4756404" y="5423916"/>
              <a:ext cx="6888480" cy="603885"/>
            </a:xfrm>
            <a:custGeom>
              <a:avLst/>
              <a:gdLst/>
              <a:ahLst/>
              <a:cxnLst/>
              <a:rect l="l" t="t" r="r" b="b"/>
              <a:pathLst>
                <a:path w="6888480" h="603885">
                  <a:moveTo>
                    <a:pt x="0" y="603504"/>
                  </a:moveTo>
                  <a:lnTo>
                    <a:pt x="6888480" y="603504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3504"/>
                  </a:lnTo>
                  <a:close/>
                </a:path>
              </a:pathLst>
            </a:custGeom>
            <a:ln w="12192">
              <a:solidFill>
                <a:srgbClr val="82825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31">
              <a:extLst>
                <a:ext uri="{FF2B5EF4-FFF2-40B4-BE49-F238E27FC236}">
                  <a16:creationId xmlns:a16="http://schemas.microsoft.com/office/drawing/2014/main" id="{882CA048-5B88-D5FB-C25B-0EFE150CA704}"/>
                </a:ext>
              </a:extLst>
            </p:cNvPr>
            <p:cNvSpPr/>
            <p:nvPr/>
          </p:nvSpPr>
          <p:spPr>
            <a:xfrm>
              <a:off x="4870704" y="5068824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09"/>
                  </a:lnTo>
                  <a:lnTo>
                    <a:pt x="0" y="590550"/>
                  </a:lnTo>
                  <a:lnTo>
                    <a:pt x="9274" y="636522"/>
                  </a:lnTo>
                  <a:lnTo>
                    <a:pt x="34575" y="674065"/>
                  </a:lnTo>
                  <a:lnTo>
                    <a:pt x="72116" y="699377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77"/>
                  </a:lnTo>
                  <a:lnTo>
                    <a:pt x="5191220" y="674065"/>
                  </a:lnTo>
                  <a:lnTo>
                    <a:pt x="5216521" y="636522"/>
                  </a:lnTo>
                  <a:lnTo>
                    <a:pt x="5225796" y="590550"/>
                  </a:lnTo>
                  <a:lnTo>
                    <a:pt x="5225796" y="118109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tx2">
                <a:lumMod val="20000"/>
                <a:lumOff val="80000"/>
              </a:scheme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3" name="object 32">
              <a:extLst>
                <a:ext uri="{FF2B5EF4-FFF2-40B4-BE49-F238E27FC236}">
                  <a16:creationId xmlns:a16="http://schemas.microsoft.com/office/drawing/2014/main" id="{6DC6745F-808E-5FA4-5F32-B30EADEC6EB4}"/>
                </a:ext>
              </a:extLst>
            </p:cNvPr>
            <p:cNvSpPr/>
            <p:nvPr/>
          </p:nvSpPr>
          <p:spPr>
            <a:xfrm>
              <a:off x="4870704" y="5068824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09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09"/>
                  </a:lnTo>
                  <a:lnTo>
                    <a:pt x="5225796" y="590550"/>
                  </a:lnTo>
                  <a:lnTo>
                    <a:pt x="5216521" y="636522"/>
                  </a:lnTo>
                  <a:lnTo>
                    <a:pt x="5191220" y="674065"/>
                  </a:lnTo>
                  <a:lnTo>
                    <a:pt x="5153679" y="699377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77"/>
                  </a:lnTo>
                  <a:lnTo>
                    <a:pt x="34575" y="674065"/>
                  </a:lnTo>
                  <a:lnTo>
                    <a:pt x="9274" y="636522"/>
                  </a:lnTo>
                  <a:lnTo>
                    <a:pt x="0" y="590550"/>
                  </a:lnTo>
                  <a:lnTo>
                    <a:pt x="0" y="118109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33">
            <a:extLst>
              <a:ext uri="{FF2B5EF4-FFF2-40B4-BE49-F238E27FC236}">
                <a16:creationId xmlns:a16="http://schemas.microsoft.com/office/drawing/2014/main" id="{DAC0E1E3-723D-F57C-155B-8EEEAC749AF7}"/>
              </a:ext>
            </a:extLst>
          </p:cNvPr>
          <p:cNvSpPr txBox="1"/>
          <p:nvPr/>
        </p:nvSpPr>
        <p:spPr>
          <a:xfrm>
            <a:off x="5096382" y="1987803"/>
            <a:ext cx="4735830" cy="2623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SzPct val="95833"/>
              <a:tabLst>
                <a:tab pos="347345" algn="l"/>
              </a:tabLst>
            </a:pPr>
            <a:r>
              <a:rPr lang="en-US" sz="2400" spc="-10" dirty="0">
                <a:solidFill>
                  <a:srgbClr val="FFFFFF"/>
                </a:solidFill>
                <a:latin typeface="Consolas"/>
                <a:cs typeface="Consolas"/>
              </a:rPr>
              <a:t>2.Me</a:t>
            </a:r>
            <a:r>
              <a:rPr sz="2400" spc="-10" dirty="0">
                <a:solidFill>
                  <a:srgbClr val="FFFFFF"/>
                </a:solidFill>
                <a:latin typeface="Consolas"/>
                <a:cs typeface="Consolas"/>
              </a:rPr>
              <a:t>thodology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Consolas"/>
              <a:buAutoNum type="arabicPeriod" startAt="3"/>
            </a:pP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Consolas"/>
              <a:buAutoNum type="arabicPeriod" startAt="3"/>
            </a:pPr>
            <a:endParaRPr sz="2400" dirty="0">
              <a:latin typeface="Consolas"/>
              <a:cs typeface="Consolas"/>
            </a:endParaRPr>
          </a:p>
          <a:p>
            <a:pPr marL="347345" indent="-334645">
              <a:lnSpc>
                <a:spcPct val="100000"/>
              </a:lnSpc>
              <a:buSzPct val="95833"/>
              <a:buAutoNum type="arabicPeriod" startAt="3"/>
              <a:tabLst>
                <a:tab pos="347345" algn="l"/>
              </a:tabLst>
            </a:pPr>
            <a:r>
              <a:rPr sz="2400" spc="-10" dirty="0">
                <a:solidFill>
                  <a:srgbClr val="FFFFFF"/>
                </a:solidFill>
                <a:latin typeface="Consolas"/>
                <a:cs typeface="Consolas"/>
              </a:rPr>
              <a:t>Results</a:t>
            </a: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buClr>
                <a:srgbClr val="FFFFFF"/>
              </a:buClr>
              <a:buFont typeface="Consolas"/>
              <a:buAutoNum type="arabicPeriod" startAt="3"/>
            </a:pPr>
            <a:endParaRPr sz="240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Consolas"/>
              <a:buAutoNum type="arabicPeriod" startAt="3"/>
            </a:pPr>
            <a:endParaRPr sz="2400" dirty="0">
              <a:latin typeface="Consolas"/>
              <a:cs typeface="Consolas"/>
            </a:endParaRPr>
          </a:p>
          <a:p>
            <a:pPr marL="516255" indent="-503555">
              <a:lnSpc>
                <a:spcPct val="100000"/>
              </a:lnSpc>
              <a:spcBef>
                <a:spcPts val="5"/>
              </a:spcBef>
              <a:buSzPct val="95833"/>
              <a:buAutoNum type="arabicPeriod" startAt="3"/>
              <a:tabLst>
                <a:tab pos="516255" algn="l"/>
              </a:tabLst>
            </a:pPr>
            <a:r>
              <a:rPr lang="en-US" sz="2400" dirty="0">
                <a:solidFill>
                  <a:srgbClr val="FFFFFF"/>
                </a:solidFill>
                <a:latin typeface="Consolas"/>
                <a:cs typeface="Consolas"/>
              </a:rPr>
              <a:t>Conclusion</a:t>
            </a:r>
            <a:endParaRPr sz="2400" dirty="0">
              <a:latin typeface="Consolas"/>
              <a:cs typeface="Consolas"/>
            </a:endParaRPr>
          </a:p>
        </p:txBody>
      </p:sp>
      <p:sp>
        <p:nvSpPr>
          <p:cNvPr id="45" name="object 34">
            <a:extLst>
              <a:ext uri="{FF2B5EF4-FFF2-40B4-BE49-F238E27FC236}">
                <a16:creationId xmlns:a16="http://schemas.microsoft.com/office/drawing/2014/main" id="{0857289F-4063-6601-B958-241F4E6BC5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5428" y="1756359"/>
            <a:ext cx="18078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75" dirty="0"/>
              <a:t>Outlines</a:t>
            </a:r>
          </a:p>
        </p:txBody>
      </p:sp>
      <p:grpSp>
        <p:nvGrpSpPr>
          <p:cNvPr id="46" name="object 45">
            <a:extLst>
              <a:ext uri="{FF2B5EF4-FFF2-40B4-BE49-F238E27FC236}">
                <a16:creationId xmlns:a16="http://schemas.microsoft.com/office/drawing/2014/main" id="{D3B99287-912C-D3E7-356B-5334DAD8B2EC}"/>
              </a:ext>
            </a:extLst>
          </p:cNvPr>
          <p:cNvGrpSpPr/>
          <p:nvPr/>
        </p:nvGrpSpPr>
        <p:grpSpPr>
          <a:xfrm>
            <a:off x="11678411" y="6320027"/>
            <a:ext cx="365760" cy="532130"/>
            <a:chOff x="11678411" y="6320027"/>
            <a:chExt cx="365760" cy="532130"/>
          </a:xfrm>
        </p:grpSpPr>
        <p:sp>
          <p:nvSpPr>
            <p:cNvPr id="47" name="object 46">
              <a:extLst>
                <a:ext uri="{FF2B5EF4-FFF2-40B4-BE49-F238E27FC236}">
                  <a16:creationId xmlns:a16="http://schemas.microsoft.com/office/drawing/2014/main" id="{54C916A3-D27D-B87C-2B68-797F1B96A9A5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GB" sz="2800" spc="-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  <a:p>
              <a:pPr algn="ctr"/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7">
              <a:extLst>
                <a:ext uri="{FF2B5EF4-FFF2-40B4-BE49-F238E27FC236}">
                  <a16:creationId xmlns:a16="http://schemas.microsoft.com/office/drawing/2014/main" id="{8720C1BE-2628-61A7-6521-0A991C7F180F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7188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4878FC-458C-32AF-3E80-5CC3AB46E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42">
            <a:extLst>
              <a:ext uri="{FF2B5EF4-FFF2-40B4-BE49-F238E27FC236}">
                <a16:creationId xmlns:a16="http://schemas.microsoft.com/office/drawing/2014/main" id="{F5886CEA-EF8A-FC90-E760-99B5B976B4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5859" y="404815"/>
            <a:ext cx="31946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14" name="object 44">
            <a:extLst>
              <a:ext uri="{FF2B5EF4-FFF2-40B4-BE49-F238E27FC236}">
                <a16:creationId xmlns:a16="http://schemas.microsoft.com/office/drawing/2014/main" id="{D85AC0AF-2662-B54C-B58F-6A3F4237104B}"/>
              </a:ext>
            </a:extLst>
          </p:cNvPr>
          <p:cNvSpPr txBox="1"/>
          <p:nvPr/>
        </p:nvSpPr>
        <p:spPr>
          <a:xfrm>
            <a:off x="9308746" y="2780510"/>
            <a:ext cx="2276785" cy="5908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0" marR="5080" indent="-222885" algn="ctr">
              <a:lnSpc>
                <a:spcPct val="120000"/>
              </a:lnSpc>
              <a:spcBef>
                <a:spcPts val="1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 of water</a:t>
            </a:r>
          </a:p>
          <a:p>
            <a:pPr marL="234950" marR="5080" indent="-222885" algn="ctr">
              <a:lnSpc>
                <a:spcPct val="120000"/>
              </a:lnSpc>
              <a:spcBef>
                <a:spcPts val="1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molecule on surface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45">
            <a:extLst>
              <a:ext uri="{FF2B5EF4-FFF2-40B4-BE49-F238E27FC236}">
                <a16:creationId xmlns:a16="http://schemas.microsoft.com/office/drawing/2014/main" id="{4E5BB733-F3C4-EA95-A519-9217B5F887B4}"/>
              </a:ext>
            </a:extLst>
          </p:cNvPr>
          <p:cNvGrpSpPr/>
          <p:nvPr/>
        </p:nvGrpSpPr>
        <p:grpSpPr>
          <a:xfrm>
            <a:off x="11678411" y="6320027"/>
            <a:ext cx="365760" cy="532130"/>
            <a:chOff x="11678411" y="6320027"/>
            <a:chExt cx="365760" cy="532130"/>
          </a:xfrm>
        </p:grpSpPr>
        <p:sp>
          <p:nvSpPr>
            <p:cNvPr id="16" name="object 46">
              <a:extLst>
                <a:ext uri="{FF2B5EF4-FFF2-40B4-BE49-F238E27FC236}">
                  <a16:creationId xmlns:a16="http://schemas.microsoft.com/office/drawing/2014/main" id="{E591E1D6-B089-786F-00F8-0940FC690356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object 47">
              <a:extLst>
                <a:ext uri="{FF2B5EF4-FFF2-40B4-BE49-F238E27FC236}">
                  <a16:creationId xmlns:a16="http://schemas.microsoft.com/office/drawing/2014/main" id="{F568609C-970F-0DA5-2DD8-C877ABACC17A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48">
            <a:extLst>
              <a:ext uri="{FF2B5EF4-FFF2-40B4-BE49-F238E27FC236}">
                <a16:creationId xmlns:a16="http://schemas.microsoft.com/office/drawing/2014/main" id="{56BE47D4-86D0-FC72-32A3-DF7CC1DEAA2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612AC9-C7B3-7D70-5A48-80CDFF49F8FA}"/>
              </a:ext>
            </a:extLst>
          </p:cNvPr>
          <p:cNvSpPr txBox="1"/>
          <p:nvPr/>
        </p:nvSpPr>
        <p:spPr>
          <a:xfrm>
            <a:off x="3807542" y="4053351"/>
            <a:ext cx="7966076" cy="203132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atomic modeling of atom adsorption on surfaces that can be used as detectors in the synthesis of superheavy elements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such as DFT provide precise and reliable results, but they are computationally very demanding. Therefore, we use simpler methods (Lennard-Jones potential implemented within the Atomic Simulation Environment (ASE)) that are faster and still offer sufficiently accurate results.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8B3F37A-E2CC-3813-7F72-0972C39ED0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443"/>
          <a:stretch>
            <a:fillRect/>
          </a:stretch>
        </p:blipFill>
        <p:spPr>
          <a:xfrm>
            <a:off x="9523373" y="1339002"/>
            <a:ext cx="1847533" cy="142875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140A1F1-11D1-C815-D156-BA51AE843F07}"/>
              </a:ext>
            </a:extLst>
          </p:cNvPr>
          <p:cNvSpPr/>
          <p:nvPr/>
        </p:nvSpPr>
        <p:spPr>
          <a:xfrm>
            <a:off x="3807542" y="3577337"/>
            <a:ext cx="2860676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7CA569-403D-9183-40B6-1F5C6EEFA877}"/>
              </a:ext>
            </a:extLst>
          </p:cNvPr>
          <p:cNvSpPr txBox="1"/>
          <p:nvPr/>
        </p:nvSpPr>
        <p:spPr>
          <a:xfrm>
            <a:off x="416196" y="1586361"/>
            <a:ext cx="823420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open-source computational physics tools for fast and automated modeling of adsorptions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Modifying the template code to incorporate other types and sizes of surfaces, for different adsorbates and for different interatomic models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02E646-109C-3D75-7950-30AD3D8BFC3B}"/>
              </a:ext>
            </a:extLst>
          </p:cNvPr>
          <p:cNvSpPr/>
          <p:nvPr/>
        </p:nvSpPr>
        <p:spPr>
          <a:xfrm>
            <a:off x="518647" y="1339002"/>
            <a:ext cx="2860676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Aim: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1DBBCC4F-ABBA-4CB5-D954-9B189DE1C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53" y="4548185"/>
            <a:ext cx="1905000" cy="1905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623AEE1-4332-2339-D8B3-26380E9C40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8914" y="3234210"/>
            <a:ext cx="1427802" cy="155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42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EFAD784-F730-93A0-DEE3-B3AAB4D1C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D5583ABE-2E3B-BBE2-45C3-A25E11900B99}"/>
              </a:ext>
            </a:extLst>
          </p:cNvPr>
          <p:cNvGrpSpPr/>
          <p:nvPr/>
        </p:nvGrpSpPr>
        <p:grpSpPr>
          <a:xfrm>
            <a:off x="11678411" y="6320027"/>
            <a:ext cx="365760" cy="532130"/>
            <a:chOff x="11678411" y="6320027"/>
            <a:chExt cx="365760" cy="532130"/>
          </a:xfrm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E332210C-B9DA-3ED8-ACDA-550AEAFE1E81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11">
              <a:extLst>
                <a:ext uri="{FF2B5EF4-FFF2-40B4-BE49-F238E27FC236}">
                  <a16:creationId xmlns:a16="http://schemas.microsoft.com/office/drawing/2014/main" id="{29F9C709-7E8C-0603-7F6A-60C0675D2A39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12">
            <a:extLst>
              <a:ext uri="{FF2B5EF4-FFF2-40B4-BE49-F238E27FC236}">
                <a16:creationId xmlns:a16="http://schemas.microsoft.com/office/drawing/2014/main" id="{F168C907-FB04-E288-0EC1-4AB4BF669ACA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64668B-D074-BD47-C4BD-C8B9F4D07832}"/>
                  </a:ext>
                </a:extLst>
              </p:cNvPr>
              <p:cNvSpPr txBox="1"/>
              <p:nvPr/>
            </p:nvSpPr>
            <p:spPr>
              <a:xfrm>
                <a:off x="381000" y="954096"/>
                <a:ext cx="8234203" cy="243989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Lennard-Jones potential describes the potential energy of interaction between two non-bonding atoms or molecules based on their distance of separation</a:t>
                </a:r>
                <a:r>
                  <a:rPr lang="en-US" dirty="0"/>
                  <a:t>:</a:t>
                </a:r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num>
                                <m:den>
                                  <m:r>
                                    <a:rPr lang="en-US" sz="1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𝑟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sup>
                      </m:sSup>
                      <m:r>
                        <a:rPr lang="en-US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</a:endParaRPr>
              </a:p>
              <a:p>
                <a:pPr algn="just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the distance between the particles,</a:t>
                </a:r>
              </a:p>
              <a:p>
                <a:pPr algn="just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ε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the depth of the potential well, indicating the strength of attraction,</a:t>
                </a:r>
              </a:p>
              <a:p>
                <a:pPr algn="just"/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is the finite distance at which the inter-particle potential is zero, effectively representing the size of the particles [1].</a:t>
                </a:r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964668B-D074-BD47-C4BD-C8B9F4D07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954096"/>
                <a:ext cx="8234203" cy="2439899"/>
              </a:xfrm>
              <a:prstGeom prst="rect">
                <a:avLst/>
              </a:prstGeom>
              <a:blipFill>
                <a:blip r:embed="rId3"/>
                <a:stretch>
                  <a:fillRect l="-592" r="-592" b="-348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8B6BF865-0E58-CA4E-1749-95D25FAEF8F6}"/>
              </a:ext>
            </a:extLst>
          </p:cNvPr>
          <p:cNvSpPr/>
          <p:nvPr/>
        </p:nvSpPr>
        <p:spPr>
          <a:xfrm>
            <a:off x="609600" y="725496"/>
            <a:ext cx="2860676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Lennard Jones: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E5D0C-49B6-C2B0-4FF2-B7F81139CC5B}"/>
              </a:ext>
            </a:extLst>
          </p:cNvPr>
          <p:cNvSpPr txBox="1"/>
          <p:nvPr/>
        </p:nvSpPr>
        <p:spPr>
          <a:xfrm>
            <a:off x="3448780" y="4131640"/>
            <a:ext cx="823420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Python library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and faster to perform tasks like improving atomic structures (geometry optimization), simulating how atoms move over time (molecular dynamics), and calculating material properties [2].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96D0D9-D11C-F432-68E6-CABF86B01BBE}"/>
              </a:ext>
            </a:extLst>
          </p:cNvPr>
          <p:cNvSpPr/>
          <p:nvPr/>
        </p:nvSpPr>
        <p:spPr>
          <a:xfrm>
            <a:off x="3677380" y="3903040"/>
            <a:ext cx="2860676" cy="4572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ASE: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0587DA-BE6B-FD20-2DF7-17C52C284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726" y="718122"/>
            <a:ext cx="3385823" cy="259871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6FC731E-0655-75F3-1FD0-FB92A799DA69}"/>
              </a:ext>
            </a:extLst>
          </p:cNvPr>
          <p:cNvSpPr/>
          <p:nvPr/>
        </p:nvSpPr>
        <p:spPr>
          <a:xfrm>
            <a:off x="9962746" y="2652426"/>
            <a:ext cx="1776983" cy="649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1AC20D-486A-AA0E-5474-664EB4533ABF}"/>
              </a:ext>
            </a:extLst>
          </p:cNvPr>
          <p:cNvSpPr txBox="1"/>
          <p:nvPr/>
        </p:nvSpPr>
        <p:spPr>
          <a:xfrm>
            <a:off x="9314666" y="3247989"/>
            <a:ext cx="2425063" cy="362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950" marR="5080" indent="-222885" algn="ctr">
              <a:lnSpc>
                <a:spcPct val="120000"/>
              </a:lnSpc>
              <a:spcBef>
                <a:spcPts val="100"/>
              </a:spcBef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L-J  potential graph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78BB4BA-F01E-FD5C-08FE-27D164BD3B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008371"/>
            <a:ext cx="3006763" cy="200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034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73736" y="6388608"/>
            <a:ext cx="358140" cy="369570"/>
            <a:chOff x="173736" y="6388608"/>
            <a:chExt cx="358140" cy="369570"/>
          </a:xfrm>
        </p:grpSpPr>
        <p:sp>
          <p:nvSpPr>
            <p:cNvPr id="4" name="object 4"/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8739" y="106806"/>
            <a:ext cx="33731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dirty="0"/>
              <a:t>2</a:t>
            </a:r>
            <a:r>
              <a:rPr dirty="0"/>
              <a:t>.</a:t>
            </a:r>
            <a:r>
              <a:rPr spc="-150" dirty="0"/>
              <a:t> </a:t>
            </a:r>
            <a:r>
              <a:rPr spc="-280" dirty="0"/>
              <a:t>Methodology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11678411" y="6320027"/>
            <a:ext cx="365760" cy="532130"/>
            <a:chOff x="11678411" y="6320027"/>
            <a:chExt cx="365760" cy="532130"/>
          </a:xfrm>
        </p:grpSpPr>
        <p:sp>
          <p:nvSpPr>
            <p:cNvPr id="23" name="object 23"/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6">
            <a:extLst>
              <a:ext uri="{FF2B5EF4-FFF2-40B4-BE49-F238E27FC236}">
                <a16:creationId xmlns:a16="http://schemas.microsoft.com/office/drawing/2014/main" id="{700C4FA8-19E6-FD23-3589-F6EC0708A3CF}"/>
              </a:ext>
            </a:extLst>
          </p:cNvPr>
          <p:cNvGrpSpPr/>
          <p:nvPr/>
        </p:nvGrpSpPr>
        <p:grpSpPr>
          <a:xfrm>
            <a:off x="173736" y="850431"/>
            <a:ext cx="5939539" cy="1363255"/>
            <a:chOff x="4731835" y="720851"/>
            <a:chExt cx="6888480" cy="1276005"/>
          </a:xfrm>
        </p:grpSpPr>
        <p:sp>
          <p:nvSpPr>
            <p:cNvPr id="28" name="object 7">
              <a:extLst>
                <a:ext uri="{FF2B5EF4-FFF2-40B4-BE49-F238E27FC236}">
                  <a16:creationId xmlns:a16="http://schemas.microsoft.com/office/drawing/2014/main" id="{4F681580-F8FB-86C8-4CEF-E232E1784B89}"/>
                </a:ext>
              </a:extLst>
            </p:cNvPr>
            <p:cNvSpPr/>
            <p:nvPr/>
          </p:nvSpPr>
          <p:spPr>
            <a:xfrm>
              <a:off x="4781805" y="1391701"/>
              <a:ext cx="6793492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/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Metal surfaces (Ag, Au, Pt, Cu) (111) modeled as periodic slabs using the Atomic Simulation Environment (ASE)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8">
              <a:extLst>
                <a:ext uri="{FF2B5EF4-FFF2-40B4-BE49-F238E27FC236}">
                  <a16:creationId xmlns:a16="http://schemas.microsoft.com/office/drawing/2014/main" id="{46CD9D3F-9DED-EEA5-A1C9-A20CF227438B}"/>
                </a:ext>
              </a:extLst>
            </p:cNvPr>
            <p:cNvSpPr/>
            <p:nvPr/>
          </p:nvSpPr>
          <p:spPr>
            <a:xfrm>
              <a:off x="4731835" y="1374939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617A5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0" name="object 9">
              <a:extLst>
                <a:ext uri="{FF2B5EF4-FFF2-40B4-BE49-F238E27FC236}">
                  <a16:creationId xmlns:a16="http://schemas.microsoft.com/office/drawing/2014/main" id="{9D336ACF-CCE3-3E09-E426-237D42F17577}"/>
                </a:ext>
              </a:extLst>
            </p:cNvPr>
            <p:cNvSpPr/>
            <p:nvPr/>
          </p:nvSpPr>
          <p:spPr>
            <a:xfrm>
              <a:off x="6224790" y="863799"/>
              <a:ext cx="3691058" cy="527304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Slab construction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object 10">
              <a:extLst>
                <a:ext uri="{FF2B5EF4-FFF2-40B4-BE49-F238E27FC236}">
                  <a16:creationId xmlns:a16="http://schemas.microsoft.com/office/drawing/2014/main" id="{C687C62C-BBD3-F431-25B2-457E5FE7D2DB}"/>
                </a:ext>
              </a:extLst>
            </p:cNvPr>
            <p:cNvSpPr/>
            <p:nvPr/>
          </p:nvSpPr>
          <p:spPr>
            <a:xfrm>
              <a:off x="5093855" y="720851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6">
            <a:extLst>
              <a:ext uri="{FF2B5EF4-FFF2-40B4-BE49-F238E27FC236}">
                <a16:creationId xmlns:a16="http://schemas.microsoft.com/office/drawing/2014/main" id="{EB9754E8-4649-BE89-694F-B40B01E961BA}"/>
              </a:ext>
            </a:extLst>
          </p:cNvPr>
          <p:cNvGrpSpPr/>
          <p:nvPr/>
        </p:nvGrpSpPr>
        <p:grpSpPr>
          <a:xfrm>
            <a:off x="148939" y="3734449"/>
            <a:ext cx="5982624" cy="1363255"/>
            <a:chOff x="4731835" y="720851"/>
            <a:chExt cx="6938449" cy="1276005"/>
          </a:xfrm>
        </p:grpSpPr>
        <p:sp>
          <p:nvSpPr>
            <p:cNvPr id="35" name="object 7">
              <a:extLst>
                <a:ext uri="{FF2B5EF4-FFF2-40B4-BE49-F238E27FC236}">
                  <a16:creationId xmlns:a16="http://schemas.microsoft.com/office/drawing/2014/main" id="{2FABAC3A-51C7-1F35-B0D5-B7D7AE117A58}"/>
                </a:ext>
              </a:extLst>
            </p:cNvPr>
            <p:cNvSpPr/>
            <p:nvPr/>
          </p:nvSpPr>
          <p:spPr>
            <a:xfrm>
              <a:off x="4781804" y="1391701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/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Single atoms (C, H, O, N, S) chosen as representative adsorbates with their specific LJ parameters.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8">
              <a:extLst>
                <a:ext uri="{FF2B5EF4-FFF2-40B4-BE49-F238E27FC236}">
                  <a16:creationId xmlns:a16="http://schemas.microsoft.com/office/drawing/2014/main" id="{788D7D50-7FF7-043B-6F7E-8195333827BC}"/>
                </a:ext>
              </a:extLst>
            </p:cNvPr>
            <p:cNvSpPr/>
            <p:nvPr/>
          </p:nvSpPr>
          <p:spPr>
            <a:xfrm>
              <a:off x="4731835" y="1374939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617A5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7" name="object 9">
              <a:extLst>
                <a:ext uri="{FF2B5EF4-FFF2-40B4-BE49-F238E27FC236}">
                  <a16:creationId xmlns:a16="http://schemas.microsoft.com/office/drawing/2014/main" id="{6F0F4DFF-DA18-E208-0654-E3D1971EDFE7}"/>
                </a:ext>
              </a:extLst>
            </p:cNvPr>
            <p:cNvSpPr/>
            <p:nvPr/>
          </p:nvSpPr>
          <p:spPr>
            <a:xfrm>
              <a:off x="6224790" y="863799"/>
              <a:ext cx="3691058" cy="527304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Adsorbate selection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10">
              <a:extLst>
                <a:ext uri="{FF2B5EF4-FFF2-40B4-BE49-F238E27FC236}">
                  <a16:creationId xmlns:a16="http://schemas.microsoft.com/office/drawing/2014/main" id="{101E0ED8-A82C-7F3E-2234-71FCA3F7AF76}"/>
                </a:ext>
              </a:extLst>
            </p:cNvPr>
            <p:cNvSpPr/>
            <p:nvPr/>
          </p:nvSpPr>
          <p:spPr>
            <a:xfrm>
              <a:off x="5093855" y="720851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2A7DA9A5-DD1F-DCF0-1B59-362E9C0FF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29" y="5227172"/>
            <a:ext cx="4694327" cy="112785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C0152CB-18F0-A7FE-741C-1B7C4A834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6939" y="2583189"/>
            <a:ext cx="5114479" cy="3059635"/>
          </a:xfrm>
          <a:prstGeom prst="rect">
            <a:avLst/>
          </a:prstGeom>
        </p:spPr>
      </p:pic>
      <p:grpSp>
        <p:nvGrpSpPr>
          <p:cNvPr id="43" name="object 6">
            <a:extLst>
              <a:ext uri="{FF2B5EF4-FFF2-40B4-BE49-F238E27FC236}">
                <a16:creationId xmlns:a16="http://schemas.microsoft.com/office/drawing/2014/main" id="{3481D93B-5701-EF0F-C20E-0061C9BD43C3}"/>
              </a:ext>
            </a:extLst>
          </p:cNvPr>
          <p:cNvGrpSpPr/>
          <p:nvPr/>
        </p:nvGrpSpPr>
        <p:grpSpPr>
          <a:xfrm>
            <a:off x="6209376" y="839294"/>
            <a:ext cx="5982624" cy="1363255"/>
            <a:chOff x="4731835" y="720851"/>
            <a:chExt cx="6938449" cy="1276005"/>
          </a:xfrm>
        </p:grpSpPr>
        <p:sp>
          <p:nvSpPr>
            <p:cNvPr id="44" name="object 7">
              <a:extLst>
                <a:ext uri="{FF2B5EF4-FFF2-40B4-BE49-F238E27FC236}">
                  <a16:creationId xmlns:a16="http://schemas.microsoft.com/office/drawing/2014/main" id="{96DF3609-484C-052D-D6FF-F00568E8B1B8}"/>
                </a:ext>
              </a:extLst>
            </p:cNvPr>
            <p:cNvSpPr/>
            <p:nvPr/>
          </p:nvSpPr>
          <p:spPr>
            <a:xfrm>
              <a:off x="4781804" y="1391701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/>
                <a:t> </a:t>
              </a: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Adsorbates placed at different adsorption sites (top, bridge, hollow) on the metal surface.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8">
              <a:extLst>
                <a:ext uri="{FF2B5EF4-FFF2-40B4-BE49-F238E27FC236}">
                  <a16:creationId xmlns:a16="http://schemas.microsoft.com/office/drawing/2014/main" id="{FE615D21-62FF-8AAB-C12B-8C9F0571614E}"/>
                </a:ext>
              </a:extLst>
            </p:cNvPr>
            <p:cNvSpPr/>
            <p:nvPr/>
          </p:nvSpPr>
          <p:spPr>
            <a:xfrm>
              <a:off x="4731835" y="1374939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617A5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6" name="object 9">
              <a:extLst>
                <a:ext uri="{FF2B5EF4-FFF2-40B4-BE49-F238E27FC236}">
                  <a16:creationId xmlns:a16="http://schemas.microsoft.com/office/drawing/2014/main" id="{40E1F984-0C00-B9E9-2279-AE3B7BD8CC72}"/>
                </a:ext>
              </a:extLst>
            </p:cNvPr>
            <p:cNvSpPr/>
            <p:nvPr/>
          </p:nvSpPr>
          <p:spPr>
            <a:xfrm>
              <a:off x="6224790" y="863799"/>
              <a:ext cx="3691058" cy="527304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Adsorption setup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10">
              <a:extLst>
                <a:ext uri="{FF2B5EF4-FFF2-40B4-BE49-F238E27FC236}">
                  <a16:creationId xmlns:a16="http://schemas.microsoft.com/office/drawing/2014/main" id="{1FBB0CB2-7A25-FB39-762E-EA2A0197B337}"/>
                </a:ext>
              </a:extLst>
            </p:cNvPr>
            <p:cNvSpPr/>
            <p:nvPr/>
          </p:nvSpPr>
          <p:spPr>
            <a:xfrm>
              <a:off x="5093855" y="720851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5FFC547-AA9D-F5A0-36DE-1DD855942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446" y="2343203"/>
            <a:ext cx="5906012" cy="1463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40C200D-1DEB-E972-83A8-38E2BB80D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48BD8F3-277B-0E02-D478-8D523DA0E147}"/>
              </a:ext>
            </a:extLst>
          </p:cNvPr>
          <p:cNvGrpSpPr/>
          <p:nvPr/>
        </p:nvGrpSpPr>
        <p:grpSpPr>
          <a:xfrm>
            <a:off x="173736" y="6388608"/>
            <a:ext cx="358140" cy="369570"/>
            <a:chOff x="173736" y="6388608"/>
            <a:chExt cx="358140" cy="36957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4B83F6B-29D6-AF9F-F1BB-8B4D91BFF512}"/>
                </a:ext>
              </a:extLst>
            </p:cNvPr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2124DC-3F6F-8C4D-6BF3-F2EE6DAFFC30}"/>
                </a:ext>
              </a:extLst>
            </p:cNvPr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743E2EAB-B570-87F4-9808-D31766B4C78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grpSp>
        <p:nvGrpSpPr>
          <p:cNvPr id="22" name="object 22">
            <a:extLst>
              <a:ext uri="{FF2B5EF4-FFF2-40B4-BE49-F238E27FC236}">
                <a16:creationId xmlns:a16="http://schemas.microsoft.com/office/drawing/2014/main" id="{0404641B-B7B1-CA98-B225-B2BC3754D940}"/>
              </a:ext>
            </a:extLst>
          </p:cNvPr>
          <p:cNvGrpSpPr/>
          <p:nvPr/>
        </p:nvGrpSpPr>
        <p:grpSpPr>
          <a:xfrm>
            <a:off x="11682983" y="6324599"/>
            <a:ext cx="356870" cy="523240"/>
            <a:chOff x="11682983" y="6324599"/>
            <a:chExt cx="356870" cy="523240"/>
          </a:xfrm>
        </p:grpSpPr>
        <p:sp>
          <p:nvSpPr>
            <p:cNvPr id="23" name="object 23">
              <a:extLst>
                <a:ext uri="{FF2B5EF4-FFF2-40B4-BE49-F238E27FC236}">
                  <a16:creationId xmlns:a16="http://schemas.microsoft.com/office/drawing/2014/main" id="{D4D54C57-EA14-3787-5B0C-9B8F2A37C280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>
              <a:extLst>
                <a:ext uri="{FF2B5EF4-FFF2-40B4-BE49-F238E27FC236}">
                  <a16:creationId xmlns:a16="http://schemas.microsoft.com/office/drawing/2014/main" id="{30B1A440-519D-3635-B150-5B4252CEFC63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>
            <a:extLst>
              <a:ext uri="{FF2B5EF4-FFF2-40B4-BE49-F238E27FC236}">
                <a16:creationId xmlns:a16="http://schemas.microsoft.com/office/drawing/2014/main" id="{E91FC53E-8FE2-D1BD-7BFB-FC2783D8AA5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object 6">
            <a:extLst>
              <a:ext uri="{FF2B5EF4-FFF2-40B4-BE49-F238E27FC236}">
                <a16:creationId xmlns:a16="http://schemas.microsoft.com/office/drawing/2014/main" id="{8B5E15EC-9692-1DA8-A56B-4B6B79560260}"/>
              </a:ext>
            </a:extLst>
          </p:cNvPr>
          <p:cNvGrpSpPr/>
          <p:nvPr/>
        </p:nvGrpSpPr>
        <p:grpSpPr>
          <a:xfrm>
            <a:off x="2971800" y="741806"/>
            <a:ext cx="5982624" cy="1363255"/>
            <a:chOff x="4731835" y="720851"/>
            <a:chExt cx="6938449" cy="1276005"/>
          </a:xfrm>
        </p:grpSpPr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6E206519-848B-D381-61E3-6E65CAC5513D}"/>
                </a:ext>
              </a:extLst>
            </p:cNvPr>
            <p:cNvSpPr/>
            <p:nvPr/>
          </p:nvSpPr>
          <p:spPr>
            <a:xfrm>
              <a:off x="4781804" y="1391701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6888480" y="0"/>
                  </a:moveTo>
                  <a:lnTo>
                    <a:pt x="0" y="0"/>
                  </a:lnTo>
                  <a:lnTo>
                    <a:pt x="0" y="605027"/>
                  </a:lnTo>
                  <a:lnTo>
                    <a:pt x="6888480" y="605027"/>
                  </a:lnTo>
                  <a:lnTo>
                    <a:pt x="6888480" y="0"/>
                  </a:lnTo>
                  <a:close/>
                </a:path>
              </a:pathLst>
            </a:custGeom>
            <a:solidFill>
              <a:srgbClr val="FF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Calculated nearest atom–atom distances to evaluate interaction strength and site preference.</a:t>
              </a: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BD9B56D9-84E7-2BBC-2506-CD76E498F3C0}"/>
                </a:ext>
              </a:extLst>
            </p:cNvPr>
            <p:cNvSpPr/>
            <p:nvPr/>
          </p:nvSpPr>
          <p:spPr>
            <a:xfrm>
              <a:off x="4731835" y="1374939"/>
              <a:ext cx="6888480" cy="605155"/>
            </a:xfrm>
            <a:custGeom>
              <a:avLst/>
              <a:gdLst/>
              <a:ahLst/>
              <a:cxnLst/>
              <a:rect l="l" t="t" r="r" b="b"/>
              <a:pathLst>
                <a:path w="6888480" h="605155">
                  <a:moveTo>
                    <a:pt x="0" y="605027"/>
                  </a:moveTo>
                  <a:lnTo>
                    <a:pt x="6888480" y="605027"/>
                  </a:lnTo>
                  <a:lnTo>
                    <a:pt x="6888480" y="0"/>
                  </a:lnTo>
                  <a:lnTo>
                    <a:pt x="0" y="0"/>
                  </a:lnTo>
                  <a:lnTo>
                    <a:pt x="0" y="605027"/>
                  </a:lnTo>
                  <a:close/>
                </a:path>
              </a:pathLst>
            </a:custGeom>
            <a:ln w="12192">
              <a:solidFill>
                <a:srgbClr val="617A57"/>
              </a:solidFill>
            </a:ln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FC2D46F8-B47A-5554-AA3A-35E3FE8BC9C5}"/>
                </a:ext>
              </a:extLst>
            </p:cNvPr>
            <p:cNvSpPr/>
            <p:nvPr/>
          </p:nvSpPr>
          <p:spPr>
            <a:xfrm>
              <a:off x="6224790" y="863799"/>
              <a:ext cx="3691058" cy="527304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5107686" y="0"/>
                  </a:moveTo>
                  <a:lnTo>
                    <a:pt x="118110" y="0"/>
                  </a:lnTo>
                  <a:lnTo>
                    <a:pt x="72116" y="9274"/>
                  </a:lnTo>
                  <a:lnTo>
                    <a:pt x="34575" y="34575"/>
                  </a:lnTo>
                  <a:lnTo>
                    <a:pt x="9274" y="72116"/>
                  </a:lnTo>
                  <a:lnTo>
                    <a:pt x="0" y="118110"/>
                  </a:lnTo>
                  <a:lnTo>
                    <a:pt x="0" y="590550"/>
                  </a:lnTo>
                  <a:lnTo>
                    <a:pt x="9274" y="636543"/>
                  </a:lnTo>
                  <a:lnTo>
                    <a:pt x="34575" y="674084"/>
                  </a:lnTo>
                  <a:lnTo>
                    <a:pt x="72116" y="699385"/>
                  </a:lnTo>
                  <a:lnTo>
                    <a:pt x="118110" y="708660"/>
                  </a:lnTo>
                  <a:lnTo>
                    <a:pt x="5107686" y="708660"/>
                  </a:lnTo>
                  <a:lnTo>
                    <a:pt x="5153679" y="699385"/>
                  </a:lnTo>
                  <a:lnTo>
                    <a:pt x="5191220" y="674084"/>
                  </a:lnTo>
                  <a:lnTo>
                    <a:pt x="5216521" y="636543"/>
                  </a:lnTo>
                  <a:lnTo>
                    <a:pt x="5225796" y="590550"/>
                  </a:lnTo>
                  <a:lnTo>
                    <a:pt x="5225796" y="118110"/>
                  </a:lnTo>
                  <a:lnTo>
                    <a:pt x="5216521" y="72116"/>
                  </a:lnTo>
                  <a:lnTo>
                    <a:pt x="5191220" y="34575"/>
                  </a:lnTo>
                  <a:lnTo>
                    <a:pt x="5153679" y="9274"/>
                  </a:lnTo>
                  <a:lnTo>
                    <a:pt x="5107686" y="0"/>
                  </a:lnTo>
                  <a:close/>
                </a:path>
              </a:pathLst>
            </a:custGeom>
            <a:solidFill>
              <a:schemeClr val="accent1"/>
            </a:solidFill>
          </p:spPr>
          <p:txBody>
            <a:bodyPr wrap="square" lIns="0" tIns="0" rIns="0" bIns="0" rtlCol="0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endParaRPr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543E84E-6EF9-9808-13C8-0AC8F872C99D}"/>
                </a:ext>
              </a:extLst>
            </p:cNvPr>
            <p:cNvSpPr/>
            <p:nvPr/>
          </p:nvSpPr>
          <p:spPr>
            <a:xfrm>
              <a:off x="5093855" y="720851"/>
              <a:ext cx="5226050" cy="708660"/>
            </a:xfrm>
            <a:custGeom>
              <a:avLst/>
              <a:gdLst/>
              <a:ahLst/>
              <a:cxnLst/>
              <a:rect l="l" t="t" r="r" b="b"/>
              <a:pathLst>
                <a:path w="5226050" h="708660">
                  <a:moveTo>
                    <a:pt x="0" y="118110"/>
                  </a:moveTo>
                  <a:lnTo>
                    <a:pt x="9274" y="72116"/>
                  </a:lnTo>
                  <a:lnTo>
                    <a:pt x="34575" y="34575"/>
                  </a:lnTo>
                  <a:lnTo>
                    <a:pt x="72116" y="9274"/>
                  </a:lnTo>
                  <a:lnTo>
                    <a:pt x="118110" y="0"/>
                  </a:lnTo>
                  <a:lnTo>
                    <a:pt x="5107686" y="0"/>
                  </a:lnTo>
                  <a:lnTo>
                    <a:pt x="5153679" y="9274"/>
                  </a:lnTo>
                  <a:lnTo>
                    <a:pt x="5191220" y="34575"/>
                  </a:lnTo>
                  <a:lnTo>
                    <a:pt x="5216521" y="72116"/>
                  </a:lnTo>
                  <a:lnTo>
                    <a:pt x="5225796" y="118110"/>
                  </a:lnTo>
                  <a:lnTo>
                    <a:pt x="5225796" y="590550"/>
                  </a:lnTo>
                  <a:lnTo>
                    <a:pt x="5216521" y="636543"/>
                  </a:lnTo>
                  <a:lnTo>
                    <a:pt x="5191220" y="674084"/>
                  </a:lnTo>
                  <a:lnTo>
                    <a:pt x="5153679" y="699385"/>
                  </a:lnTo>
                  <a:lnTo>
                    <a:pt x="5107686" y="708660"/>
                  </a:lnTo>
                  <a:lnTo>
                    <a:pt x="118110" y="708660"/>
                  </a:lnTo>
                  <a:lnTo>
                    <a:pt x="72116" y="699385"/>
                  </a:lnTo>
                  <a:lnTo>
                    <a:pt x="34575" y="674084"/>
                  </a:lnTo>
                  <a:lnTo>
                    <a:pt x="9274" y="636543"/>
                  </a:lnTo>
                  <a:lnTo>
                    <a:pt x="0" y="590550"/>
                  </a:lnTo>
                  <a:lnTo>
                    <a:pt x="0" y="118110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005ADE0-6AFD-9A3B-ABCF-1752FEBD0E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174" y="2270448"/>
            <a:ext cx="5411850" cy="15811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1681A93-5905-C0AA-5AEE-3969A835E3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763" y="4579993"/>
            <a:ext cx="4968671" cy="13488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7BFBDB1-AC63-773F-EAF5-4F6AC592CE7C}"/>
              </a:ext>
            </a:extLst>
          </p:cNvPr>
          <p:cNvSpPr txBox="1"/>
          <p:nvPr/>
        </p:nvSpPr>
        <p:spPr>
          <a:xfrm>
            <a:off x="5221344" y="3966489"/>
            <a:ext cx="6097712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950" marR="5080" indent="-222885" algn="ctr">
              <a:lnSpc>
                <a:spcPct val="120000"/>
              </a:lnSpc>
              <a:spcBef>
                <a:spcPts val="1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 of sulfur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platinum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metal surface fro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x axis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68D1A1-0AFE-30B6-D8EE-FF51E9EB83AB}"/>
              </a:ext>
            </a:extLst>
          </p:cNvPr>
          <p:cNvSpPr txBox="1"/>
          <p:nvPr/>
        </p:nvSpPr>
        <p:spPr>
          <a:xfrm>
            <a:off x="5221344" y="5934945"/>
            <a:ext cx="6097712" cy="395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34950" marR="5080" indent="-222885" algn="ctr">
              <a:lnSpc>
                <a:spcPct val="120000"/>
              </a:lnSpc>
              <a:spcBef>
                <a:spcPts val="10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Adsorption of sulfur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platinum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metal surface fro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z axis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CAFF613-88D9-BEC8-382A-16D0AA818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976" y="2277232"/>
            <a:ext cx="2551433" cy="429578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36E1B1-143A-3451-03D1-80F031E7CB71}"/>
              </a:ext>
            </a:extLst>
          </p:cNvPr>
          <p:cNvCxnSpPr>
            <a:cxnSpLocks/>
          </p:cNvCxnSpPr>
          <p:nvPr/>
        </p:nvCxnSpPr>
        <p:spPr>
          <a:xfrm flipV="1">
            <a:off x="6934200" y="2621280"/>
            <a:ext cx="457200" cy="46231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CA03276-7268-B75D-6DD1-008C6A86B527}"/>
              </a:ext>
            </a:extLst>
          </p:cNvPr>
          <p:cNvCxnSpPr>
            <a:cxnSpLocks/>
          </p:cNvCxnSpPr>
          <p:nvPr/>
        </p:nvCxnSpPr>
        <p:spPr>
          <a:xfrm flipH="1" flipV="1">
            <a:off x="7848600" y="2648332"/>
            <a:ext cx="228600" cy="43526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F843AAD-AC2C-A06D-7B40-8FF0287320C6}"/>
              </a:ext>
            </a:extLst>
          </p:cNvPr>
          <p:cNvCxnSpPr/>
          <p:nvPr/>
        </p:nvCxnSpPr>
        <p:spPr>
          <a:xfrm flipV="1">
            <a:off x="1219200" y="2743200"/>
            <a:ext cx="0" cy="10435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BCEB162-E1FB-44F6-DC30-9EB7570A1426}"/>
              </a:ext>
            </a:extLst>
          </p:cNvPr>
          <p:cNvSpPr txBox="1"/>
          <p:nvPr/>
        </p:nvSpPr>
        <p:spPr>
          <a:xfrm>
            <a:off x="839108" y="4101956"/>
            <a:ext cx="76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 </a:t>
            </a:r>
            <a:r>
              <a:rPr lang="en-ZA" dirty="0">
                <a:solidFill>
                  <a:schemeClr val="dk1"/>
                </a:solidFill>
              </a:rPr>
              <a:t>Å</a:t>
            </a:r>
            <a:endParaRPr lang="en-US" dirty="0">
              <a:solidFill>
                <a:schemeClr val="dk1"/>
              </a:solidFill>
            </a:endParaRPr>
          </a:p>
          <a:p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AC1B36-43F3-CD16-7F12-BFFAFD40894C}"/>
              </a:ext>
            </a:extLst>
          </p:cNvPr>
          <p:cNvCxnSpPr/>
          <p:nvPr/>
        </p:nvCxnSpPr>
        <p:spPr>
          <a:xfrm>
            <a:off x="1219199" y="4876800"/>
            <a:ext cx="0" cy="8345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192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C951B1-BDB9-269D-64B9-AE1F23437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38441-D02E-865A-0E89-3D08925E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96" y="2971800"/>
            <a:ext cx="2819400" cy="70274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FFF611-3DB7-BB2C-2255-68844482F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76200"/>
            <a:ext cx="6953199" cy="69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724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D5B782-49CB-3299-0500-59165621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87BE4A-BF8E-9B5F-567B-712A7EA3783B}"/>
              </a:ext>
            </a:extLst>
          </p:cNvPr>
          <p:cNvSpPr txBox="1"/>
          <p:nvPr/>
        </p:nvSpPr>
        <p:spPr>
          <a:xfrm>
            <a:off x="152400" y="381000"/>
            <a:ext cx="1188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Lennard-jones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Lj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parameters for atom adsorption on metal (111) slabs.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B6B94-43BA-DE43-2DBC-55D151070EA5}"/>
              </a:ext>
            </a:extLst>
          </p:cNvPr>
          <p:cNvSpPr txBox="1"/>
          <p:nvPr/>
        </p:nvSpPr>
        <p:spPr>
          <a:xfrm>
            <a:off x="152400" y="3702355"/>
            <a:ext cx="1188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number of generated sites for atom adsorption on metal (111) slabs.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DCF6924F-A679-11C2-3704-36BD5053CBF7}"/>
              </a:ext>
            </a:extLst>
          </p:cNvPr>
          <p:cNvGrpSpPr/>
          <p:nvPr/>
        </p:nvGrpSpPr>
        <p:grpSpPr>
          <a:xfrm>
            <a:off x="18912" y="6462036"/>
            <a:ext cx="358140" cy="369570"/>
            <a:chOff x="173736" y="6388608"/>
            <a:chExt cx="358140" cy="369570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432751FE-638B-4CAE-2326-363E02D1AD86}"/>
                </a:ext>
              </a:extLst>
            </p:cNvPr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C902D11B-DA6D-D165-612E-CF6528D8D7E5}"/>
                </a:ext>
              </a:extLst>
            </p:cNvPr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E13C11BD-2B83-C5E9-04A5-8F0ED59159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grpSp>
        <p:nvGrpSpPr>
          <p:cNvPr id="15" name="object 22">
            <a:extLst>
              <a:ext uri="{FF2B5EF4-FFF2-40B4-BE49-F238E27FC236}">
                <a16:creationId xmlns:a16="http://schemas.microsoft.com/office/drawing/2014/main" id="{AB735C07-2281-B6B8-E678-CAD883DD0575}"/>
              </a:ext>
            </a:extLst>
          </p:cNvPr>
          <p:cNvGrpSpPr/>
          <p:nvPr/>
        </p:nvGrpSpPr>
        <p:grpSpPr>
          <a:xfrm>
            <a:off x="11746547" y="6215380"/>
            <a:ext cx="356870" cy="523240"/>
            <a:chOff x="11682983" y="6324599"/>
            <a:chExt cx="356870" cy="523240"/>
          </a:xfrm>
        </p:grpSpPr>
        <p:sp>
          <p:nvSpPr>
            <p:cNvPr id="16" name="object 23">
              <a:extLst>
                <a:ext uri="{FF2B5EF4-FFF2-40B4-BE49-F238E27FC236}">
                  <a16:creationId xmlns:a16="http://schemas.microsoft.com/office/drawing/2014/main" id="{9F17A7E8-F9CE-3D7E-683C-DDF8A930E34C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4">
              <a:extLst>
                <a:ext uri="{FF2B5EF4-FFF2-40B4-BE49-F238E27FC236}">
                  <a16:creationId xmlns:a16="http://schemas.microsoft.com/office/drawing/2014/main" id="{C088E29C-E3D2-C5AF-EA6E-D70584D3E94C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25">
            <a:extLst>
              <a:ext uri="{FF2B5EF4-FFF2-40B4-BE49-F238E27FC236}">
                <a16:creationId xmlns:a16="http://schemas.microsoft.com/office/drawing/2014/main" id="{55686DDA-9B04-EA48-2409-07406022D93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80813" y="6350290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524FB66-E691-2CF2-E90A-6E08564E8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174952"/>
              </p:ext>
            </p:extLst>
          </p:nvPr>
        </p:nvGraphicFramePr>
        <p:xfrm>
          <a:off x="298703" y="816237"/>
          <a:ext cx="11384280" cy="28200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6856">
                  <a:extLst>
                    <a:ext uri="{9D8B030D-6E8A-4147-A177-3AD203B41FA5}">
                      <a16:colId xmlns:a16="http://schemas.microsoft.com/office/drawing/2014/main" val="3078828967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3319954308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1436779792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4119584421"/>
                    </a:ext>
                  </a:extLst>
                </a:gridCol>
                <a:gridCol w="2276856">
                  <a:extLst>
                    <a:ext uri="{9D8B030D-6E8A-4147-A177-3AD203B41FA5}">
                      <a16:colId xmlns:a16="http://schemas.microsoft.com/office/drawing/2014/main" val="660815899"/>
                    </a:ext>
                  </a:extLst>
                </a:gridCol>
              </a:tblGrid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Atoms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</a:t>
                      </a:r>
                      <a:endParaRPr lang="en-GB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</a:t>
                      </a:r>
                      <a:endParaRPr lang="en-GB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</a:t>
                      </a:r>
                      <a:endParaRPr lang="en-GB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78480"/>
                  </a:ext>
                </a:extLst>
              </a:tr>
              <a:tr h="400338">
                <a:tc gridSpan="5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ε [eV] &amp; σ [ Å]  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370476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GB" sz="16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 &amp; 1.95 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 &amp; 1.75 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 &amp; 1.92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0.57 &amp; 1.98</a:t>
                      </a:r>
                      <a:endParaRPr lang="en-GB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012392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GB" sz="16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 &amp;  1.60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0.04 &amp; 1.70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0.04 &amp; 1.57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0.15 &amp; 1.78</a:t>
                      </a:r>
                      <a:endParaRPr lang="en-GB" sz="160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807879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GB" sz="1600" b="0" kern="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 &amp; 1.75 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0.02 &amp; 2.00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&amp; 1.50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0.10 &amp; 1.60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3133857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 &amp; 1.90 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0.08 &amp; 1.65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&amp; 2.67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 &amp; 1.70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7621481"/>
                  </a:ext>
                </a:extLst>
              </a:tr>
              <a:tr h="4032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GB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 &amp; 2.10 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0.02 &amp; 2.00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 &amp; 1.96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0.25 &amp; 2.14</a:t>
                      </a:r>
                      <a:endParaRPr lang="en-GB" sz="160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459998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C5857D5-8511-D452-E326-EAE1FB856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902424"/>
              </p:ext>
            </p:extLst>
          </p:nvPr>
        </p:nvGraphicFramePr>
        <p:xfrm>
          <a:off x="298702" y="4106936"/>
          <a:ext cx="11384272" cy="24738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70762">
                  <a:extLst>
                    <a:ext uri="{9D8B030D-6E8A-4147-A177-3AD203B41FA5}">
                      <a16:colId xmlns:a16="http://schemas.microsoft.com/office/drawing/2014/main" val="4207072043"/>
                    </a:ext>
                  </a:extLst>
                </a:gridCol>
                <a:gridCol w="2671170">
                  <a:extLst>
                    <a:ext uri="{9D8B030D-6E8A-4147-A177-3AD203B41FA5}">
                      <a16:colId xmlns:a16="http://schemas.microsoft.com/office/drawing/2014/main" val="1889439988"/>
                    </a:ext>
                  </a:extLst>
                </a:gridCol>
                <a:gridCol w="2671170">
                  <a:extLst>
                    <a:ext uri="{9D8B030D-6E8A-4147-A177-3AD203B41FA5}">
                      <a16:colId xmlns:a16="http://schemas.microsoft.com/office/drawing/2014/main" val="3496500521"/>
                    </a:ext>
                  </a:extLst>
                </a:gridCol>
                <a:gridCol w="1335585">
                  <a:extLst>
                    <a:ext uri="{9D8B030D-6E8A-4147-A177-3AD203B41FA5}">
                      <a16:colId xmlns:a16="http://schemas.microsoft.com/office/drawing/2014/main" val="2925533376"/>
                    </a:ext>
                  </a:extLst>
                </a:gridCol>
                <a:gridCol w="1335585">
                  <a:extLst>
                    <a:ext uri="{9D8B030D-6E8A-4147-A177-3AD203B41FA5}">
                      <a16:colId xmlns:a16="http://schemas.microsoft.com/office/drawing/2014/main" val="2074359403"/>
                    </a:ext>
                  </a:extLst>
                </a:gridCol>
              </a:tblGrid>
              <a:tr h="270254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Au, Cu, Ag, Pt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729822"/>
                  </a:ext>
                </a:extLst>
              </a:tr>
              <a:tr h="322225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Bridge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Hollow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588852"/>
                  </a:ext>
                </a:extLst>
              </a:tr>
              <a:tr h="322225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fcc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1683317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552869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70517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219673"/>
                  </a:ext>
                </a:extLst>
              </a:tr>
              <a:tr h="32222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539841"/>
                  </a:ext>
                </a:extLst>
              </a:tr>
              <a:tr h="27025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72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002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D17DB79-07E9-EDA0-0EEA-79BBFD231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B03556-CDA6-2F2B-5C97-83DB3C021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462807"/>
              </p:ext>
            </p:extLst>
          </p:nvPr>
        </p:nvGraphicFramePr>
        <p:xfrm>
          <a:off x="353568" y="914400"/>
          <a:ext cx="11609829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9981">
                  <a:extLst>
                    <a:ext uri="{9D8B030D-6E8A-4147-A177-3AD203B41FA5}">
                      <a16:colId xmlns:a16="http://schemas.microsoft.com/office/drawing/2014/main" val="3761307716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1911661897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3025395315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1467584004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1205337286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714168131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1027648245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1305416142"/>
                    </a:ext>
                  </a:extLst>
                </a:gridCol>
                <a:gridCol w="1289981">
                  <a:extLst>
                    <a:ext uri="{9D8B030D-6E8A-4147-A177-3AD203B41FA5}">
                      <a16:colId xmlns:a16="http://schemas.microsoft.com/office/drawing/2014/main" val="4017281246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 (Cal)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 (Lit)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 (Cal)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 (Lit)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 (Cal)</a:t>
                      </a:r>
                      <a:endParaRPr lang="en-GB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 (Lit)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 (Cal)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 (Lit)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96928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2.16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1.94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[8]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[11]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2.07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[16]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28026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1.39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[9]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[12]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[17]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82109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1.94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1.88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1.78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[13]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1.79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1.87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[18]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41728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2.12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2.92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3.00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[14]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1.90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1.85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[19]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0037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2.31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2.40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2.23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2.23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[10]</a:t>
                      </a:r>
                      <a:endParaRPr lang="en-GB" sz="16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2.18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2.20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[15]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2.37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2.38 </a:t>
                      </a:r>
                      <a:r>
                        <a:rPr lang="en-GB" sz="1600" u="none" strike="noStrike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874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D87B378-DF47-9429-759D-3661F3039974}"/>
              </a:ext>
            </a:extLst>
          </p:cNvPr>
          <p:cNvSpPr txBox="1"/>
          <p:nvPr/>
        </p:nvSpPr>
        <p:spPr>
          <a:xfrm>
            <a:off x="152400" y="381000"/>
            <a:ext cx="1188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3.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calculated and literature atom–adsorbate distances (O, N, H, C, S) on metal (Au, Cu, Ag, Pt) (111) surfaces [Å].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2BAEB0-EE24-D9ED-5C68-E877F7976E1C}"/>
              </a:ext>
            </a:extLst>
          </p:cNvPr>
          <p:cNvSpPr txBox="1"/>
          <p:nvPr/>
        </p:nvSpPr>
        <p:spPr>
          <a:xfrm>
            <a:off x="152400" y="3702355"/>
            <a:ext cx="1188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4.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most stable site for atom adsorption on metal (111) slabs.</a:t>
            </a:r>
            <a:endParaRPr lang="en-GB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48A440-61D0-71C1-427D-32B3BA8683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607127"/>
              </p:ext>
            </p:extLst>
          </p:nvPr>
        </p:nvGraphicFramePr>
        <p:xfrm>
          <a:off x="3479800" y="4114800"/>
          <a:ext cx="5207000" cy="243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400">
                  <a:extLst>
                    <a:ext uri="{9D8B030D-6E8A-4147-A177-3AD203B41FA5}">
                      <a16:colId xmlns:a16="http://schemas.microsoft.com/office/drawing/2014/main" val="37613077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911661897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467584004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71416813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05416142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Atoms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</a:t>
                      </a:r>
                      <a:endParaRPr lang="en-GB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96928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328026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82109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41728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GB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70037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hcp hollow</a:t>
                      </a:r>
                      <a:endParaRPr lang="en-GB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8487433"/>
                  </a:ext>
                </a:extLst>
              </a:tr>
            </a:tbl>
          </a:graphicData>
        </a:graphic>
      </p:graphicFrame>
      <p:grpSp>
        <p:nvGrpSpPr>
          <p:cNvPr id="11" name="object 3">
            <a:extLst>
              <a:ext uri="{FF2B5EF4-FFF2-40B4-BE49-F238E27FC236}">
                <a16:creationId xmlns:a16="http://schemas.microsoft.com/office/drawing/2014/main" id="{F5C9F92C-BF0D-3439-8F47-3CDFEB809333}"/>
              </a:ext>
            </a:extLst>
          </p:cNvPr>
          <p:cNvGrpSpPr/>
          <p:nvPr/>
        </p:nvGrpSpPr>
        <p:grpSpPr>
          <a:xfrm>
            <a:off x="173736" y="6388608"/>
            <a:ext cx="358140" cy="369570"/>
            <a:chOff x="173736" y="6388608"/>
            <a:chExt cx="358140" cy="369570"/>
          </a:xfrm>
        </p:grpSpPr>
        <p:sp>
          <p:nvSpPr>
            <p:cNvPr id="12" name="object 4">
              <a:extLst>
                <a:ext uri="{FF2B5EF4-FFF2-40B4-BE49-F238E27FC236}">
                  <a16:creationId xmlns:a16="http://schemas.microsoft.com/office/drawing/2014/main" id="{7A9969E9-D95E-8DDA-244B-B9C95388698C}"/>
                </a:ext>
              </a:extLst>
            </p:cNvPr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5">
              <a:extLst>
                <a:ext uri="{FF2B5EF4-FFF2-40B4-BE49-F238E27FC236}">
                  <a16:creationId xmlns:a16="http://schemas.microsoft.com/office/drawing/2014/main" id="{23F5B92A-8A9D-60DF-905C-7FD534937D78}"/>
                </a:ext>
              </a:extLst>
            </p:cNvPr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0ED68677-135F-1AED-D101-5B782F2FDFC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grpSp>
        <p:nvGrpSpPr>
          <p:cNvPr id="15" name="object 22">
            <a:extLst>
              <a:ext uri="{FF2B5EF4-FFF2-40B4-BE49-F238E27FC236}">
                <a16:creationId xmlns:a16="http://schemas.microsoft.com/office/drawing/2014/main" id="{7A453E4B-19FA-BABA-E4A2-4F015E8DC9E2}"/>
              </a:ext>
            </a:extLst>
          </p:cNvPr>
          <p:cNvGrpSpPr/>
          <p:nvPr/>
        </p:nvGrpSpPr>
        <p:grpSpPr>
          <a:xfrm>
            <a:off x="11682983" y="6324599"/>
            <a:ext cx="356870" cy="523240"/>
            <a:chOff x="11682983" y="6324599"/>
            <a:chExt cx="356870" cy="523240"/>
          </a:xfrm>
        </p:grpSpPr>
        <p:sp>
          <p:nvSpPr>
            <p:cNvPr id="16" name="object 23">
              <a:extLst>
                <a:ext uri="{FF2B5EF4-FFF2-40B4-BE49-F238E27FC236}">
                  <a16:creationId xmlns:a16="http://schemas.microsoft.com/office/drawing/2014/main" id="{D2C97285-A61C-A8A3-E813-F38CD16BC4A6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4">
              <a:extLst>
                <a:ext uri="{FF2B5EF4-FFF2-40B4-BE49-F238E27FC236}">
                  <a16:creationId xmlns:a16="http://schemas.microsoft.com/office/drawing/2014/main" id="{5DE5852C-DB19-4BE1-A7A8-25AF52A047EE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25">
            <a:extLst>
              <a:ext uri="{FF2B5EF4-FFF2-40B4-BE49-F238E27FC236}">
                <a16:creationId xmlns:a16="http://schemas.microsoft.com/office/drawing/2014/main" id="{3FFA38EE-5C39-87CB-F041-ABC8E6F87C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831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7DAFDD-834B-E718-67D1-19217D3F1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35DFD1A-A297-0328-D849-1C9BBB3EC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315003"/>
            <a:ext cx="2057401" cy="2057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4A006D3-9613-A53F-865F-A99CF1B703AC}"/>
              </a:ext>
            </a:extLst>
          </p:cNvPr>
          <p:cNvSpPr txBox="1"/>
          <p:nvPr/>
        </p:nvSpPr>
        <p:spPr>
          <a:xfrm>
            <a:off x="381000" y="2514600"/>
            <a:ext cx="373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Au-H top site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9DDCF-1E55-C13F-B2D4-46AFC892AC56}"/>
              </a:ext>
            </a:extLst>
          </p:cNvPr>
          <p:cNvSpPr txBox="1"/>
          <p:nvPr/>
        </p:nvSpPr>
        <p:spPr>
          <a:xfrm>
            <a:off x="-841080" y="5197418"/>
            <a:ext cx="6137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 bridge site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389ACF0-F1EE-8F4E-D790-F91905028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211" y="3311415"/>
            <a:ext cx="2362981" cy="170354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ADA97C-8F9F-F13E-510B-734F21C6CCE5}"/>
              </a:ext>
            </a:extLst>
          </p:cNvPr>
          <p:cNvSpPr txBox="1"/>
          <p:nvPr/>
        </p:nvSpPr>
        <p:spPr>
          <a:xfrm>
            <a:off x="4788140" y="2518707"/>
            <a:ext cx="6631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 HCP hollow site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76FD4F0-6201-DE71-A2B0-B349E42B0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4305" y="315003"/>
            <a:ext cx="1981200" cy="2006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3865418-1B2F-301F-A9E8-B011B28F63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4875" y="298736"/>
            <a:ext cx="3133295" cy="203913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E21EBBA-ECE8-79C3-351A-BB0E807C31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2899" y="3190178"/>
            <a:ext cx="1981200" cy="20602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D323D0F-8E47-7935-034D-BAFA7185038D}"/>
              </a:ext>
            </a:extLst>
          </p:cNvPr>
          <p:cNvSpPr txBox="1"/>
          <p:nvPr/>
        </p:nvSpPr>
        <p:spPr>
          <a:xfrm>
            <a:off x="4628797" y="5367949"/>
            <a:ext cx="6632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Ag-O FCC hollow site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4A6C5EDB-EC5D-E97A-4A42-F3BBACD9A6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4874" y="3217334"/>
            <a:ext cx="3133295" cy="2033142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4B49BC2-B67A-37AE-D2B4-9250203C3CE1}"/>
              </a:ext>
            </a:extLst>
          </p:cNvPr>
          <p:cNvSpPr txBox="1"/>
          <p:nvPr/>
        </p:nvSpPr>
        <p:spPr>
          <a:xfrm>
            <a:off x="381000" y="5817432"/>
            <a:ext cx="1173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Au–H (top site), (ii) Pt–N (hcp hollow), (iii) Cu–S (bridge), (iv) fcc hollow site.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25C555-A3A2-6D8E-4AFD-9A29F89BB1B6}"/>
              </a:ext>
            </a:extLst>
          </p:cNvPr>
          <p:cNvSpPr txBox="1"/>
          <p:nvPr/>
        </p:nvSpPr>
        <p:spPr>
          <a:xfrm>
            <a:off x="625988" y="298736"/>
            <a:ext cx="46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C27794-FB16-FB32-2DF7-9A44D0131858}"/>
              </a:ext>
            </a:extLst>
          </p:cNvPr>
          <p:cNvSpPr txBox="1"/>
          <p:nvPr/>
        </p:nvSpPr>
        <p:spPr>
          <a:xfrm>
            <a:off x="4876800" y="298736"/>
            <a:ext cx="577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(ii).</a:t>
            </a:r>
            <a:endParaRPr lang="en-GB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62B5F6-D331-F496-DE81-FAF78368A3BD}"/>
              </a:ext>
            </a:extLst>
          </p:cNvPr>
          <p:cNvSpPr txBox="1"/>
          <p:nvPr/>
        </p:nvSpPr>
        <p:spPr>
          <a:xfrm>
            <a:off x="457200" y="3244334"/>
            <a:ext cx="6566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(iii).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D8D191-67E4-88DC-1451-D7F3B62D86A0}"/>
              </a:ext>
            </a:extLst>
          </p:cNvPr>
          <p:cNvSpPr txBox="1"/>
          <p:nvPr/>
        </p:nvSpPr>
        <p:spPr>
          <a:xfrm>
            <a:off x="5010718" y="3118505"/>
            <a:ext cx="577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(iv).</a:t>
            </a:r>
            <a:endParaRPr lang="en-GB" dirty="0"/>
          </a:p>
        </p:txBody>
      </p:sp>
      <p:grpSp>
        <p:nvGrpSpPr>
          <p:cNvPr id="33" name="object 3">
            <a:extLst>
              <a:ext uri="{FF2B5EF4-FFF2-40B4-BE49-F238E27FC236}">
                <a16:creationId xmlns:a16="http://schemas.microsoft.com/office/drawing/2014/main" id="{AF8A7C6C-81E5-145E-0C0F-4F310E2BFEFE}"/>
              </a:ext>
            </a:extLst>
          </p:cNvPr>
          <p:cNvGrpSpPr/>
          <p:nvPr/>
        </p:nvGrpSpPr>
        <p:grpSpPr>
          <a:xfrm>
            <a:off x="173736" y="6388608"/>
            <a:ext cx="358140" cy="369570"/>
            <a:chOff x="173736" y="6388608"/>
            <a:chExt cx="358140" cy="369570"/>
          </a:xfrm>
        </p:grpSpPr>
        <p:sp>
          <p:nvSpPr>
            <p:cNvPr id="34" name="object 4">
              <a:extLst>
                <a:ext uri="{FF2B5EF4-FFF2-40B4-BE49-F238E27FC236}">
                  <a16:creationId xmlns:a16="http://schemas.microsoft.com/office/drawing/2014/main" id="{F9DDB78B-B93D-D4F1-1E14-8A22355752DC}"/>
                </a:ext>
              </a:extLst>
            </p:cNvPr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>
              <a:extLst>
                <a:ext uri="{FF2B5EF4-FFF2-40B4-BE49-F238E27FC236}">
                  <a16:creationId xmlns:a16="http://schemas.microsoft.com/office/drawing/2014/main" id="{37D4BAAC-EDFF-26FD-69E9-846855FFDCE1}"/>
                </a:ext>
              </a:extLst>
            </p:cNvPr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>
              <a:extLst>
                <a:ext uri="{FF2B5EF4-FFF2-40B4-BE49-F238E27FC236}">
                  <a16:creationId xmlns:a16="http://schemas.microsoft.com/office/drawing/2014/main" id="{C713A00B-7B41-E7FD-AC7F-51007F9988B8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grpSp>
        <p:nvGrpSpPr>
          <p:cNvPr id="37" name="object 22">
            <a:extLst>
              <a:ext uri="{FF2B5EF4-FFF2-40B4-BE49-F238E27FC236}">
                <a16:creationId xmlns:a16="http://schemas.microsoft.com/office/drawing/2014/main" id="{09FC81EF-F478-5B74-ED50-31E06D67015C}"/>
              </a:ext>
            </a:extLst>
          </p:cNvPr>
          <p:cNvGrpSpPr/>
          <p:nvPr/>
        </p:nvGrpSpPr>
        <p:grpSpPr>
          <a:xfrm>
            <a:off x="11682983" y="6324599"/>
            <a:ext cx="356870" cy="523240"/>
            <a:chOff x="11682983" y="6324599"/>
            <a:chExt cx="356870" cy="523240"/>
          </a:xfrm>
        </p:grpSpPr>
        <p:sp>
          <p:nvSpPr>
            <p:cNvPr id="38" name="object 23">
              <a:extLst>
                <a:ext uri="{FF2B5EF4-FFF2-40B4-BE49-F238E27FC236}">
                  <a16:creationId xmlns:a16="http://schemas.microsoft.com/office/drawing/2014/main" id="{DC7FF71A-3411-2347-1081-2C78025E34EB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24">
              <a:extLst>
                <a:ext uri="{FF2B5EF4-FFF2-40B4-BE49-F238E27FC236}">
                  <a16:creationId xmlns:a16="http://schemas.microsoft.com/office/drawing/2014/main" id="{2883F689-84C2-281A-3EFE-557FC796ABCC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25">
            <a:extLst>
              <a:ext uri="{FF2B5EF4-FFF2-40B4-BE49-F238E27FC236}">
                <a16:creationId xmlns:a16="http://schemas.microsoft.com/office/drawing/2014/main" id="{CFCC5BB5-93E9-4D73-2A2E-C60643079CD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506834" y="6429791"/>
            <a:ext cx="515238" cy="3520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322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FFF99B-114E-D6C7-508B-D12DF3616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6724E536-180A-3F04-D63E-274B0B82E2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8999"/>
            <a:ext cx="10321290" cy="923086"/>
          </a:xfrm>
          <a:prstGeom prst="rect">
            <a:avLst/>
          </a:prstGeom>
        </p:spPr>
        <p:txBody>
          <a:bodyPr vert="horz" wrap="square" lIns="0" tIns="300151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95"/>
              </a:spcBef>
            </a:pPr>
            <a:r>
              <a:rPr lang="en-US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spc="-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364CCC-7E79-F9F7-C18B-56002DE8B97C}"/>
              </a:ext>
            </a:extLst>
          </p:cNvPr>
          <p:cNvSpPr txBox="1"/>
          <p:nvPr/>
        </p:nvSpPr>
        <p:spPr>
          <a:xfrm>
            <a:off x="266699" y="1143000"/>
            <a:ext cx="11658601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Lennard–Jones model provides reasonable estimates of adsorption distances when well-calibrated and is computationally efficient. However, it incorrectly predicts the hcp hollow site as the most stable configuration, whereas DFT identifies the fcc hollow as more favorable.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discrepancy stems from the LJ potential’s purely distance-based, pairwise nature. Its apparent hcp preference results from numerical rounding or minor geometric differences rather than true physical stabilization.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could: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applications in molecule adsorption studies</a:t>
            </a: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 of structures during adsorption processes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developed code can be applied in designing gold-based detectors for the synthesis of superheavy elements such as copernicium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D9A27-9CFC-DDF9-865A-17B5CF931C3F}"/>
              </a:ext>
            </a:extLst>
          </p:cNvPr>
          <p:cNvPicPr/>
          <p:nvPr/>
        </p:nvPicPr>
        <p:blipFill>
          <a:blip r:embed="rId3"/>
          <a:srcRect l="56372" t="51675" r="449" b="6220"/>
          <a:stretch>
            <a:fillRect/>
          </a:stretch>
        </p:blipFill>
        <p:spPr>
          <a:xfrm>
            <a:off x="7239000" y="5007509"/>
            <a:ext cx="2743200" cy="16764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802261-8071-D6CC-C43B-127538CF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42" t="5136" r="7322" b="3353"/>
          <a:stretch>
            <a:fillRect/>
          </a:stretch>
        </p:blipFill>
        <p:spPr>
          <a:xfrm>
            <a:off x="5004055" y="4937569"/>
            <a:ext cx="1752600" cy="1797288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CD1D9FE6-D5CE-D64B-406F-B4742BB95177}"/>
              </a:ext>
            </a:extLst>
          </p:cNvPr>
          <p:cNvGrpSpPr/>
          <p:nvPr/>
        </p:nvGrpSpPr>
        <p:grpSpPr>
          <a:xfrm>
            <a:off x="173736" y="6388608"/>
            <a:ext cx="358140" cy="369570"/>
            <a:chOff x="173736" y="6388608"/>
            <a:chExt cx="358140" cy="369570"/>
          </a:xfrm>
        </p:grpSpPr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38334F2B-3ADD-D3A3-F4E1-0A6C60FB99F0}"/>
                </a:ext>
              </a:extLst>
            </p:cNvPr>
            <p:cNvSpPr/>
            <p:nvPr/>
          </p:nvSpPr>
          <p:spPr>
            <a:xfrm>
              <a:off x="173736" y="6573012"/>
              <a:ext cx="358140" cy="0"/>
            </a:xfrm>
            <a:custGeom>
              <a:avLst/>
              <a:gdLst/>
              <a:ahLst/>
              <a:cxnLst/>
              <a:rect l="l" t="t" r="r" b="b"/>
              <a:pathLst>
                <a:path w="358140">
                  <a:moveTo>
                    <a:pt x="0" y="0"/>
                  </a:moveTo>
                  <a:lnTo>
                    <a:pt x="358089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18C0F12F-D356-F179-F210-3DD5D722A893}"/>
                </a:ext>
              </a:extLst>
            </p:cNvPr>
            <p:cNvSpPr/>
            <p:nvPr/>
          </p:nvSpPr>
          <p:spPr>
            <a:xfrm>
              <a:off x="353568" y="6388608"/>
              <a:ext cx="0" cy="369570"/>
            </a:xfrm>
            <a:custGeom>
              <a:avLst/>
              <a:gdLst/>
              <a:ahLst/>
              <a:cxnLst/>
              <a:rect l="l" t="t" r="r" b="b"/>
              <a:pathLst>
                <a:path h="369570">
                  <a:moveTo>
                    <a:pt x="0" y="368964"/>
                  </a:moveTo>
                  <a:lnTo>
                    <a:pt x="0" y="0"/>
                  </a:lnTo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6">
              <a:extLst>
                <a:ext uri="{FF2B5EF4-FFF2-40B4-BE49-F238E27FC236}">
                  <a16:creationId xmlns:a16="http://schemas.microsoft.com/office/drawing/2014/main" id="{04783EAF-E81A-3C1A-4C03-A14F15E59E0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8704" y="6480048"/>
              <a:ext cx="109728" cy="109727"/>
            </a:xfrm>
            <a:prstGeom prst="rect">
              <a:avLst/>
            </a:prstGeom>
          </p:spPr>
        </p:pic>
      </p:grpSp>
      <p:grpSp>
        <p:nvGrpSpPr>
          <p:cNvPr id="14" name="object 22">
            <a:extLst>
              <a:ext uri="{FF2B5EF4-FFF2-40B4-BE49-F238E27FC236}">
                <a16:creationId xmlns:a16="http://schemas.microsoft.com/office/drawing/2014/main" id="{E32E2F12-2E0D-8E7C-0A24-493FCA7F1CA7}"/>
              </a:ext>
            </a:extLst>
          </p:cNvPr>
          <p:cNvGrpSpPr/>
          <p:nvPr/>
        </p:nvGrpSpPr>
        <p:grpSpPr>
          <a:xfrm>
            <a:off x="11682983" y="6324599"/>
            <a:ext cx="356870" cy="523240"/>
            <a:chOff x="11682983" y="6324599"/>
            <a:chExt cx="356870" cy="523240"/>
          </a:xfrm>
        </p:grpSpPr>
        <p:sp>
          <p:nvSpPr>
            <p:cNvPr id="15" name="object 23">
              <a:extLst>
                <a:ext uri="{FF2B5EF4-FFF2-40B4-BE49-F238E27FC236}">
                  <a16:creationId xmlns:a16="http://schemas.microsoft.com/office/drawing/2014/main" id="{D4C2CCCD-6264-9158-B665-B4DBA67C993E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356616" y="0"/>
                  </a:moveTo>
                  <a:lnTo>
                    <a:pt x="0" y="0"/>
                  </a:lnTo>
                  <a:lnTo>
                    <a:pt x="0" y="522731"/>
                  </a:lnTo>
                  <a:lnTo>
                    <a:pt x="356616" y="522731"/>
                  </a:lnTo>
                  <a:lnTo>
                    <a:pt x="3566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24">
              <a:extLst>
                <a:ext uri="{FF2B5EF4-FFF2-40B4-BE49-F238E27FC236}">
                  <a16:creationId xmlns:a16="http://schemas.microsoft.com/office/drawing/2014/main" id="{89953287-4EF4-4394-0246-1D5DCAC90CAB}"/>
                </a:ext>
              </a:extLst>
            </p:cNvPr>
            <p:cNvSpPr/>
            <p:nvPr/>
          </p:nvSpPr>
          <p:spPr>
            <a:xfrm>
              <a:off x="11682983" y="6324599"/>
              <a:ext cx="356870" cy="523240"/>
            </a:xfrm>
            <a:custGeom>
              <a:avLst/>
              <a:gdLst/>
              <a:ahLst/>
              <a:cxnLst/>
              <a:rect l="l" t="t" r="r" b="b"/>
              <a:pathLst>
                <a:path w="356870" h="523240">
                  <a:moveTo>
                    <a:pt x="0" y="522731"/>
                  </a:moveTo>
                  <a:lnTo>
                    <a:pt x="356616" y="522731"/>
                  </a:lnTo>
                  <a:lnTo>
                    <a:pt x="356616" y="0"/>
                  </a:lnTo>
                  <a:lnTo>
                    <a:pt x="0" y="0"/>
                  </a:lnTo>
                  <a:lnTo>
                    <a:pt x="0" y="522731"/>
                  </a:lnTo>
                  <a:close/>
                </a:path>
              </a:pathLst>
            </a:custGeom>
            <a:ln w="91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25">
            <a:extLst>
              <a:ext uri="{FF2B5EF4-FFF2-40B4-BE49-F238E27FC236}">
                <a16:creationId xmlns:a16="http://schemas.microsoft.com/office/drawing/2014/main" id="{8778DDB4-6DB5-456A-61FF-A6F0C3D260B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407141" y="6388608"/>
            <a:ext cx="862582" cy="3462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8605">
              <a:lnSpc>
                <a:spcPts val="2735"/>
              </a:lnSpc>
            </a:pPr>
            <a:r>
              <a:rPr lang="en-US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pc="-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0209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EA8D446-2B3F-DA2F-32C4-7D3128761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BAEE800B-72FB-C374-8560-48040EDA0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8999"/>
            <a:ext cx="10321290" cy="923086"/>
          </a:xfrm>
          <a:prstGeom prst="rect">
            <a:avLst/>
          </a:prstGeom>
        </p:spPr>
        <p:txBody>
          <a:bodyPr vert="horz" wrap="square" lIns="0" tIns="300151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95"/>
              </a:spcBef>
            </a:pPr>
            <a:r>
              <a:rPr lang="en-US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pc="-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E3B955-B2EE-463D-72C9-B691B727080E}"/>
              </a:ext>
            </a:extLst>
          </p:cNvPr>
          <p:cNvSpPr txBox="1"/>
          <p:nvPr/>
        </p:nvSpPr>
        <p:spPr>
          <a:xfrm>
            <a:off x="228600" y="1329801"/>
            <a:ext cx="11734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Atkins, Peter and de Paula, Julio. Physical Chemistry for the Life Sciences. New York, N.Y. W. H. Freeman Company, 2006.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Larsen, A.H., Mortensen, J.J. et al., J. Phys.: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Condens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Matter, 29, (2017).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Baker, T.A., Friend, C.M. et al., J. Phys. Chem. C, 113, (2009).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G.C., Jiang, L. et al., J. Phys. Chem. B, 109, (2005).</a:t>
            </a:r>
          </a:p>
          <a:p>
            <a:pPr marL="228600" indent="-228600" algn="just">
              <a:buAutoNum type="arabicPeriod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Dokhlikova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N.V., Gatin, A.K. et al., Materials, 18, (2025).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Kumar, P.,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Meyerstein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et al.,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ChemPhysChem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26, (2025).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Ting, E.C., Popa, T. et al., Beilstein J.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Nanotechnol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7, (2016).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Yu, K., McDaniel, J.G. et al., J. Phys. Chem. B, 115, (2011).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Soon, A., Wong, L. et al., Surf. Sci., 601, (2007).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Pang, X.Y., Xue, L.Q. et al., Langmuir, 23, (2007).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Jia, L., Wang, Y. et al., J. Phys. Chem. B, 107, (2003).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Raju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Karimadom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B., Varshney, S. et al.,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ChemPhysChem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23, (2022).</a:t>
            </a:r>
          </a:p>
          <a:p>
            <a:pPr marL="228600" indent="-228600" algn="just">
              <a:buAutoNum type="arabicPeriod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Bürker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Ferri, N. et al., Phys. Rev. B, 87, (2013).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Shen, M., Liu, D.J. et al., J. Phys. Chem. C, 112, (2008).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Jennings, P.C., Aleksandrov, H.A. et al., Nanoscale, 6, (2014).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Zeng, Z.H., Da Silva, J.L. et al., Phys. Rev. B, 79, (2009).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Hanh, T.T.T., Takimoto, Y. et al., Surf. Sci., 625, (2014).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J.X., Robinson, I.K. et al., J. Phys. Chem. B, 109, (2005).</a:t>
            </a:r>
          </a:p>
          <a:p>
            <a:pPr marL="228600" indent="-228600" algn="just"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Yang, Z., Wu, R. et al., Phys. Rev. B, 65, (2002).</a:t>
            </a:r>
          </a:p>
          <a:p>
            <a:pPr marL="228600" indent="-228600" algn="just"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AutoNum type="arabicPeriod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GB" sz="1200" dirty="0"/>
          </a:p>
        </p:txBody>
      </p:sp>
    </p:spTree>
    <p:extLst>
      <p:ext uri="{BB962C8B-B14F-4D97-AF65-F5344CB8AC3E}">
        <p14:creationId xmlns:p14="http://schemas.microsoft.com/office/powerpoint/2010/main" val="11637076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AD1D4C-44B3-D747-ED05-E6114546D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5">
            <a:extLst>
              <a:ext uri="{FF2B5EF4-FFF2-40B4-BE49-F238E27FC236}">
                <a16:creationId xmlns:a16="http://schemas.microsoft.com/office/drawing/2014/main" id="{0DA765CC-E089-0F3B-30DF-E02566BDE3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739" y="18999"/>
            <a:ext cx="10321290" cy="923086"/>
          </a:xfrm>
          <a:prstGeom prst="rect">
            <a:avLst/>
          </a:prstGeom>
        </p:spPr>
        <p:txBody>
          <a:bodyPr vert="horz" wrap="square" lIns="0" tIns="300151" rIns="0" bIns="0" rtlCol="0">
            <a:spAutoFit/>
          </a:bodyPr>
          <a:lstStyle/>
          <a:p>
            <a:pPr marL="207645">
              <a:lnSpc>
                <a:spcPct val="100000"/>
              </a:lnSpc>
              <a:spcBef>
                <a:spcPts val="95"/>
              </a:spcBef>
            </a:pPr>
            <a:r>
              <a:rPr lang="en-US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spc="-27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6CD414-AC16-572F-8857-975214816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6789"/>
            <a:ext cx="3215919" cy="9983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0F9CA0-97B4-D0D6-F394-3F155773E5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0" y="1076788"/>
            <a:ext cx="4092295" cy="998307"/>
          </a:xfrm>
          <a:prstGeom prst="rect">
            <a:avLst/>
          </a:prstGeom>
        </p:spPr>
      </p:pic>
      <p:pic>
        <p:nvPicPr>
          <p:cNvPr id="9" name="Picture 8" descr="A group of people standing in front of a statue&#10;&#10;AI-generated content may be incorrect.">
            <a:extLst>
              <a:ext uri="{FF2B5EF4-FFF2-40B4-BE49-F238E27FC236}">
                <a16:creationId xmlns:a16="http://schemas.microsoft.com/office/drawing/2014/main" id="{42172D50-AC84-1E74-BAC1-C01D37BE874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209800"/>
            <a:ext cx="5943600" cy="4457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3A7DF-EDBF-8263-AB9C-F2E31FCC22C3}"/>
              </a:ext>
            </a:extLst>
          </p:cNvPr>
          <p:cNvSpPr txBox="1"/>
          <p:nvPr/>
        </p:nvSpPr>
        <p:spPr>
          <a:xfrm>
            <a:off x="4572001" y="1320126"/>
            <a:ext cx="209237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az-Cyrl-AZ" sz="3600" dirty="0"/>
              <a:t>спасибо</a:t>
            </a:r>
            <a:endParaRPr lang="en-GB" sz="3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A0569-33E3-9583-A7EF-CAF4FB7F1643}"/>
              </a:ext>
            </a:extLst>
          </p:cNvPr>
          <p:cNvSpPr txBox="1"/>
          <p:nvPr/>
        </p:nvSpPr>
        <p:spPr>
          <a:xfrm>
            <a:off x="439783" y="3016595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3600" dirty="0" err="1"/>
              <a:t>dakujem</a:t>
            </a:r>
            <a:endParaRPr lang="en-GB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A5269-FA6E-D461-2326-E69D241226E5}"/>
              </a:ext>
            </a:extLst>
          </p:cNvPr>
          <p:cNvSpPr txBox="1"/>
          <p:nvPr/>
        </p:nvSpPr>
        <p:spPr>
          <a:xfrm>
            <a:off x="422366" y="5536331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0"/>
            <a:r>
              <a:rPr lang="az-Cyrl-AZ" sz="3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хвала вам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74D123-FC9A-6A65-ECE4-489AF863DDF5}"/>
              </a:ext>
            </a:extLst>
          </p:cNvPr>
          <p:cNvSpPr txBox="1"/>
          <p:nvPr/>
        </p:nvSpPr>
        <p:spPr>
          <a:xfrm>
            <a:off x="428897" y="4696419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sz="3600" dirty="0"/>
              <a:t>Cảm ơn</a:t>
            </a:r>
            <a:endParaRPr lang="en-GB" sz="3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51698-6ED8-7AF6-865B-F9985B02DB5D}"/>
              </a:ext>
            </a:extLst>
          </p:cNvPr>
          <p:cNvSpPr txBox="1"/>
          <p:nvPr/>
        </p:nvSpPr>
        <p:spPr>
          <a:xfrm>
            <a:off x="439783" y="2176683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Kea </a:t>
            </a:r>
            <a:r>
              <a:rPr lang="en-US" sz="3600" dirty="0" err="1"/>
              <a:t>leboga</a:t>
            </a:r>
            <a:endParaRPr lang="en-GB" sz="3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5EF5DC-9D87-04E4-835C-4D1987D8A142}"/>
              </a:ext>
            </a:extLst>
          </p:cNvPr>
          <p:cNvSpPr txBox="1"/>
          <p:nvPr/>
        </p:nvSpPr>
        <p:spPr>
          <a:xfrm>
            <a:off x="439783" y="3856507"/>
            <a:ext cx="22860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rtl="0"/>
            <a:r>
              <a:rPr lang="hi-IN" sz="36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धन्यवाद</a:t>
            </a:r>
            <a:endParaRPr lang="az-Cyrl-AZ" sz="36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53C7FA6-A9AD-34A0-5B72-F1F152CD4D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2200" y="2130739"/>
            <a:ext cx="1219200" cy="81523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211B330-650C-DEF3-40D9-96EA78FB83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2200" y="2986115"/>
            <a:ext cx="1219200" cy="81524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4DBA79-B7D5-EA55-1DF5-61191200F5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5061" y="3982897"/>
            <a:ext cx="1251579" cy="81524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CC7251F-7AFD-C819-49C8-5B0AE28101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82200" y="4933990"/>
            <a:ext cx="1251579" cy="84722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4E72B55-12E7-810D-AF78-710129E63F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86554" y="5858726"/>
            <a:ext cx="1251751" cy="84722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4A37CA6-E788-654D-AF68-1C93ADA5A17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53000" y="399305"/>
            <a:ext cx="1257408" cy="84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0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1475</Words>
  <Application>Microsoft Office PowerPoint</Application>
  <PresentationFormat>Widescreen</PresentationFormat>
  <Paragraphs>274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Cambria Math</vt:lpstr>
      <vt:lpstr>Consolas</vt:lpstr>
      <vt:lpstr>Times New Roman</vt:lpstr>
      <vt:lpstr>Wingdings</vt:lpstr>
      <vt:lpstr>Office Theme</vt:lpstr>
      <vt:lpstr>PowerPoint Presentation</vt:lpstr>
      <vt:lpstr>Outlines</vt:lpstr>
      <vt:lpstr>1. Introduction</vt:lpstr>
      <vt:lpstr>PowerPoint Presentation</vt:lpstr>
      <vt:lpstr>2. Methodology</vt:lpstr>
      <vt:lpstr>PowerPoint Presentation</vt:lpstr>
      <vt:lpstr>3. Results</vt:lpstr>
      <vt:lpstr>PowerPoint Presentation</vt:lpstr>
      <vt:lpstr>PowerPoint Presentation</vt:lpstr>
      <vt:lpstr>PowerPoint Presentation</vt:lpstr>
      <vt:lpstr>4. Conclusion</vt:lpstr>
      <vt:lpstr>References</vt:lpstr>
      <vt:lpstr>Acknowledgements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rabab.asar17@fsc.bu.edu.eg</dc:creator>
  <cp:lastModifiedBy>MR EDWINE NTOBE MATLOU (201719082)</cp:lastModifiedBy>
  <cp:revision>107</cp:revision>
  <dcterms:created xsi:type="dcterms:W3CDTF">2025-10-06T07:31:33Z</dcterms:created>
  <dcterms:modified xsi:type="dcterms:W3CDTF">2025-10-09T10:32:18Z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2025-10-06T00:00:00Z</vt:filetime>
  </property>
  <property fmtid="{D5CDD505-2E9C-101B-9397-08002B2CF9AE}" pid="5" name="Producer">
    <vt:lpwstr>Microsoft® PowerPoint® 2016</vt:lpwstr>
  </property>
</Properties>
</file>